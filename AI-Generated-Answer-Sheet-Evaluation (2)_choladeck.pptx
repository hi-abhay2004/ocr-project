
<file path=[Content_Types].xml><?xml version="1.0" encoding="utf-8"?>
<Types xmlns="http://schemas.openxmlformats.org/package/2006/content-types">
  <Default Extension="xml" ContentType="application/vnd.openxmlformats-officedocument.extended-properties+xml"/>
  <Default Extension="png" ContentType="image/png"/>
  <Default Extension="svg" ContentType="image/svg+xml"/>
  <Default Extension="fntdata" ContentType="application/x-fontdata"/>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7.xml" ContentType="application/vnd.openxmlformats-officedocument.presentationml.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tableStyles.xml" ContentType="application/vnd.openxmlformats-officedocument.presentationml.tableStyles+xml"/>
  <Override PartName="/ppt/slides/slide2.xml" ContentType="application/vnd.openxmlformats-officedocument.presentationml.slide+xml"/>
  <Override PartName="/ppt/notesSlides/notesSlide2.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viewProps.xml" ContentType="application/vnd.openxmlformats-officedocument.presentationml.viewProps+xml"/>
  <Override PartName="/ppt/slides/slide5.xml" ContentType="application/vnd.openxmlformats-officedocument.presentationml.slide+xml"/>
  <Override PartName="/ppt/notesSlides/notesSlide5.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presProps.xml" ContentType="application/vnd.openxmlformats-officedocument.presentationml.presProps+xml"/>
  <Override PartName="/ppt/slides/slide9.xml" ContentType="application/vnd.openxmlformats-officedocument.presentationml.slide+xml"/>
  <Override PartName="/ppt/notesSlides/notesSlide9.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Tomorrow" panose="020B0604020202020204" charset="0"/>
      <p:regular r:id="rId13"/>
    </p:embeddedFont>
    <p:embeddedFont>
      <p:font typeface="Tomorrow Semi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20" y="58"/>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font" Target="/ppt/fonts/font1.fntdata" Id="rId13" /><Relationship Type="http://schemas.openxmlformats.org/officeDocument/2006/relationships/tableStyles" Target="/ppt/tableStyles.xml" Id="rId18" /><Relationship Type="http://schemas.openxmlformats.org/officeDocument/2006/relationships/slide" Target="/ppt/slides/slide2.xml" Id="rId3" /><Relationship Type="http://schemas.openxmlformats.org/officeDocument/2006/relationships/slide" Target="/ppt/slides/slide6.xml" Id="rId7" /><Relationship Type="http://schemas.openxmlformats.org/officeDocument/2006/relationships/notesMaster" Target="/ppt/notesMasters/notesMaster1.xml" Id="rId12" /><Relationship Type="http://schemas.openxmlformats.org/officeDocument/2006/relationships/theme" Target="/ppt/theme/theme1.xml" Id="rId17" /><Relationship Type="http://schemas.openxmlformats.org/officeDocument/2006/relationships/viewProps" Target="/ppt/viewProps.xml" Id="rId16"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openxmlformats.org/officeDocument/2006/relationships/slide" Target="/ppt/slides/slide4.xml" Id="rId5" /><Relationship Type="http://schemas.openxmlformats.org/officeDocument/2006/relationships/presProps" Target="/ppt/presProps.xml" Id="rId15" /><Relationship Type="http://schemas.openxmlformats.org/officeDocument/2006/relationships/slide" Target="/ppt/slides/slide9.xml" Id="rId10"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font" Target="/ppt/fonts/font2.fntdata" Id="rId14" /></Relationships>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213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Id2" /><Relationship Type="http://schemas.openxmlformats.org/officeDocument/2006/relationships/notesMaster" Target="/ppt/notesMasters/notesMaster1.xml" Id="rI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Id2" /><Relationship Type="http://schemas.openxmlformats.org/officeDocument/2006/relationships/notesMaster" Target="/ppt/notesMasters/notesMaster1.xml" Id="rI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Id2" /><Relationship Type="http://schemas.openxmlformats.org/officeDocument/2006/relationships/notesMaster" Target="/ppt/notesMasters/notesMaster1.xml" Id="rI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Id2" /><Relationship Type="http://schemas.openxmlformats.org/officeDocument/2006/relationships/notesMaster" Target="/ppt/notesMasters/notesMaster1.xml" Id="rI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Id2" /><Relationship Type="http://schemas.openxmlformats.org/officeDocument/2006/relationships/notesMaster" Target="/ppt/notesMasters/notesMaster1.xml" Id="rI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Id2" /><Relationship Type="http://schemas.openxmlformats.org/officeDocument/2006/relationships/notesMaster" Target="/ppt/notesMasters/notesMaster1.xml" Id="rI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Id2" /><Relationship Type="http://schemas.openxmlformats.org/officeDocument/2006/relationships/notesMaster" Target="/ppt/notesMasters/notesMaster1.xml" Id="rI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Id2" /><Relationship Type="http://schemas.openxmlformats.org/officeDocument/2006/relationships/notesMaster" Target="/ppt/notesMasters/notesMaster1.xml" Id="rId1" /></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3.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4.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5.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6.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7.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8.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9.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0.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1.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8.xml" Id="rId8" /><Relationship Type="http://schemas.openxmlformats.org/officeDocument/2006/relationships/slideLayout" Target="/ppt/slideLayouts/slideLayout3.xml" Id="rId3" /><Relationship Type="http://schemas.openxmlformats.org/officeDocument/2006/relationships/slideLayout" Target="/ppt/slideLayouts/slideLayout7.xml" Id="rId7" /><Relationship Type="http://schemas.openxmlformats.org/officeDocument/2006/relationships/theme" Target="/ppt/theme/theme1.xml" Id="rId12" /><Relationship Type="http://schemas.openxmlformats.org/officeDocument/2006/relationships/slideLayout" Target="/ppt/slideLayouts/slideLayout2.xml" Id="rId2" /><Relationship Type="http://schemas.openxmlformats.org/officeDocument/2006/relationships/slideLayout" Target="/ppt/slideLayouts/slideLayout1.xml" Id="rId1" /><Relationship Type="http://schemas.openxmlformats.org/officeDocument/2006/relationships/slideLayout" Target="/ppt/slideLayouts/slideLayout6.xml" Id="rId6" /><Relationship Type="http://schemas.openxmlformats.org/officeDocument/2006/relationships/slideLayout" Target="/ppt/slideLayouts/slideLayout11.xml" Id="rId11" /><Relationship Type="http://schemas.openxmlformats.org/officeDocument/2006/relationships/slideLayout" Target="/ppt/slideLayouts/slideLayout5.xml" Id="rId5" /><Relationship Type="http://schemas.openxmlformats.org/officeDocument/2006/relationships/slideLayout" Target="/ppt/slideLayouts/slideLayout10.xml" Id="rId10" /><Relationship Type="http://schemas.openxmlformats.org/officeDocument/2006/relationships/slideLayout" Target="/ppt/slideLayouts/slideLayout4.xml" Id="rId4" /><Relationship Type="http://schemas.openxmlformats.org/officeDocument/2006/relationships/slideLayout" Target="/ppt/slideLayouts/slideLayout9.xml" Id="rId9"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&#65279;<?xml version="1.0" encoding="utf-8"?><Relationships xmlns="http://schemas.openxmlformats.org/package/2006/relationships"><Relationship Type="http://schemas.openxmlformats.org/officeDocument/2006/relationships/image" Target="/ppt/media/image4.png" Id="rId3" /><Relationship Type="http://schemas.openxmlformats.org/officeDocument/2006/relationships/notesSlide" Target="/ppt/notesSlides/notesSlide2.xml" Id="rId2" /><Relationship Type="http://schemas.openxmlformats.org/officeDocument/2006/relationships/slideLayout" Target="/ppt/slideLayouts/slideLayout3.xml" Id="rId1" /><Relationship Type="http://schemas.openxmlformats.org/officeDocument/2006/relationships/image" Target="/ppt/media/image3.png" Id="rId4" /></Relationships>
</file>

<file path=ppt/slides/_rels/slide3.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notesSlide" Target="/ppt/notesSlides/notesSlide3.xml" Id="rId2" /><Relationship Type="http://schemas.openxmlformats.org/officeDocument/2006/relationships/slideLayout" Target="/ppt/slideLayouts/slideLayout4.xml" Id="rId1" /></Relationships>
</file>

<file path=ppt/slides/_rels/slide4.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notesSlide" Target="/ppt/notesSlides/notesSlide4.xml" Id="rId2" /><Relationship Type="http://schemas.openxmlformats.org/officeDocument/2006/relationships/slideLayout" Target="/ppt/slideLayouts/slideLayout5.xml" Id="rId1" /></Relationships>
</file>

<file path=ppt/slides/_rels/slide5.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notesSlide" Target="/ppt/notesSlides/notesSlide5.xml" Id="rId2" /><Relationship Type="http://schemas.openxmlformats.org/officeDocument/2006/relationships/slideLayout" Target="/ppt/slideLayouts/slideLayout6.xml" Id="rId1" /></Relationships>
</file>

<file path=ppt/slides/_rels/slide6.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notesSlide" Target="/ppt/notesSlides/notesSlide6.xml" Id="rId2" /><Relationship Type="http://schemas.openxmlformats.org/officeDocument/2006/relationships/slideLayout" Target="/ppt/slideLayouts/slideLayout7.xml" Id="rId1" /></Relationships>
</file>

<file path=ppt/slides/_rels/slide7.xml.rels>&#65279;<?xml version="1.0" encoding="utf-8"?><Relationships xmlns="http://schemas.openxmlformats.org/package/2006/relationships"><Relationship Type="http://schemas.openxmlformats.org/officeDocument/2006/relationships/image" Target="/ppt/media/image3.png" Id="rId8" /><Relationship Type="http://schemas.openxmlformats.org/officeDocument/2006/relationships/image" Target="/ppt/media/image5.svg" Id="rId3" /><Relationship Type="http://schemas.openxmlformats.org/officeDocument/2006/relationships/image" Target="/ppt/media/image9.svg" Id="rId7" /><Relationship Type="http://schemas.openxmlformats.org/officeDocument/2006/relationships/notesSlide" Target="/ppt/notesSlides/notesSlide7.xml" Id="rId2" /><Relationship Type="http://schemas.openxmlformats.org/officeDocument/2006/relationships/slideLayout" Target="/ppt/slideLayouts/slideLayout8.xml" Id="rId1" /><Relationship Type="http://schemas.openxmlformats.org/officeDocument/2006/relationships/image" Target="/ppt/media/image8.svg" Id="rId6" /><Relationship Type="http://schemas.openxmlformats.org/officeDocument/2006/relationships/image" Target="/ppt/media/image7.svg" Id="rId5" /><Relationship Type="http://schemas.openxmlformats.org/officeDocument/2006/relationships/image" Target="/ppt/media/image6.svg" Id="rId4" /></Relationships>
</file>

<file path=ppt/slides/_rels/slide8.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notesSlide" Target="/ppt/notesSlides/notesSlide8.xml" Id="rId2" /><Relationship Type="http://schemas.openxmlformats.org/officeDocument/2006/relationships/slideLayout" Target="/ppt/slideLayouts/slideLayout9.xml" Id="rId1" /></Relationships>
</file>

<file path=ppt/slides/_rels/slide9.xml.rels>&#65279;<?xml version="1.0" encoding="utf-8"?><Relationships xmlns="http://schemas.openxmlformats.org/package/2006/relationships"><Relationship Type="http://schemas.openxmlformats.org/officeDocument/2006/relationships/image" Target="/ppt/media/image3.png" Id="rId8" /><Relationship Type="http://schemas.openxmlformats.org/officeDocument/2006/relationships/image" Target="/ppt/media/image10.svg" Id="rId3" /><Relationship Type="http://schemas.openxmlformats.org/officeDocument/2006/relationships/image" Target="/ppt/media/image14.svg" Id="rId7" /><Relationship Type="http://schemas.openxmlformats.org/officeDocument/2006/relationships/notesSlide" Target="/ppt/notesSlides/notesSlide9.xml" Id="rId2" /><Relationship Type="http://schemas.openxmlformats.org/officeDocument/2006/relationships/slideLayout" Target="/ppt/slideLayouts/slideLayout10.xml" Id="rId1" /><Relationship Type="http://schemas.openxmlformats.org/officeDocument/2006/relationships/image" Target="/ppt/media/image13.svg" Id="rId6" /><Relationship Type="http://schemas.openxmlformats.org/officeDocument/2006/relationships/image" Target="/ppt/media/image12.svg" Id="rId5" /><Relationship Type="http://schemas.openxmlformats.org/officeDocument/2006/relationships/image" Target="/ppt/media/image11.svg" Id="rId4" /></Relationships>
</file>

<file path=ppt/slides/_rels/slide10.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notesSlide" Target="/ppt/notesSlides/notesSlide10.xml" Id="rId2" /><Relationship Type="http://schemas.openxmlformats.org/officeDocument/2006/relationships/slideLayout" Target="/ppt/slideLayouts/slideLayout11.xml" Id="rId1" /></Relationships>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407826" y="961430"/>
            <a:ext cx="3687128" cy="460891"/>
          </a:xfrm>
          <a:prstGeom prst="rect">
            <a:avLst/>
          </a:prstGeom>
          <a:noFill/>
          <a:ln/>
        </p:spPr>
        <p:txBody>
          <a:bodyPr wrap="none" lIns="0" tIns="0" rIns="0" bIns="0" rtlCol="0" anchor="t"/>
          <a:lstStyle/>
          <a:p>
            <a:pPr marL="0" indent="0" algn="l">
              <a:lnSpc>
                <a:spcPts val="3600"/>
              </a:lnSpc>
              <a:buNone/>
            </a:pPr>
            <a:r>
              <a:rPr lang="en-US" sz="4800" dirty="0">
                <a:solidFill>
                  <a:srgbClr val="1D1D1B"/>
                </a:solidFill>
                <a:latin typeface="Tomorrow Semi Bold" pitchFamily="34" charset="0"/>
                <a:ea typeface="Tomorrow Semi Bold" pitchFamily="34" charset="-122"/>
                <a:cs typeface="Tomorrow Semi Bold" pitchFamily="34" charset="-120"/>
              </a:rPr>
              <a:t>Problem Statement</a:t>
            </a:r>
            <a:endParaRPr lang="en-US" sz="4800" dirty="0"/>
          </a:p>
        </p:txBody>
      </p:sp>
      <p:pic>
        <p:nvPicPr>
          <p:cNvPr id="3" name="Image 0" descr="preencoded.png"/>
          <p:cNvPicPr>
            <a:picLocks noChangeAspect="1"/>
          </p:cNvPicPr>
          <p:nvPr/>
        </p:nvPicPr>
        <p:blipFill>
          <a:blip r:embed="rId3"/>
          <a:stretch>
            <a:fillRect/>
          </a:stretch>
        </p:blipFill>
        <p:spPr>
          <a:xfrm>
            <a:off x="115746" y="665544"/>
            <a:ext cx="8009681" cy="6898511"/>
          </a:xfrm>
          <a:prstGeom prst="rect">
            <a:avLst/>
          </a:prstGeom>
        </p:spPr>
      </p:pic>
      <p:sp>
        <p:nvSpPr>
          <p:cNvPr id="4" name="Text 1"/>
          <p:cNvSpPr/>
          <p:nvPr/>
        </p:nvSpPr>
        <p:spPr>
          <a:xfrm>
            <a:off x="8624751" y="2103148"/>
            <a:ext cx="1843564" cy="230386"/>
          </a:xfrm>
          <a:prstGeom prst="rect">
            <a:avLst/>
          </a:prstGeom>
          <a:noFill/>
          <a:ln/>
        </p:spPr>
        <p:txBody>
          <a:bodyPr wrap="none" lIns="0" tIns="0" rIns="0" bIns="0" rtlCol="0" anchor="t"/>
          <a:lstStyle/>
          <a:p>
            <a:pPr marL="0" indent="0" algn="l">
              <a:lnSpc>
                <a:spcPts val="1800"/>
              </a:lnSpc>
              <a:buNone/>
            </a:pPr>
            <a:r>
              <a:rPr lang="en-US" sz="2000" dirty="0">
                <a:solidFill>
                  <a:srgbClr val="1D1D1B"/>
                </a:solidFill>
                <a:latin typeface="Tomorrow Semi Bold" pitchFamily="34" charset="0"/>
                <a:ea typeface="Tomorrow Semi Bold" pitchFamily="34" charset="-122"/>
                <a:cs typeface="Tomorrow Semi Bold" pitchFamily="34" charset="-120"/>
              </a:rPr>
              <a:t>The Challenge</a:t>
            </a:r>
            <a:endParaRPr lang="en-US" sz="2000" dirty="0"/>
          </a:p>
        </p:txBody>
      </p:sp>
      <p:sp>
        <p:nvSpPr>
          <p:cNvPr id="5" name="Text 2"/>
          <p:cNvSpPr/>
          <p:nvPr/>
        </p:nvSpPr>
        <p:spPr>
          <a:xfrm>
            <a:off x="8624751" y="2484288"/>
            <a:ext cx="4881735" cy="1752005"/>
          </a:xfrm>
          <a:prstGeom prst="rect">
            <a:avLst/>
          </a:prstGeom>
          <a:noFill/>
          <a:ln/>
        </p:spPr>
        <p:txBody>
          <a:bodyPr wrap="square" lIns="0" tIns="0" rIns="0" bIns="0" rtlCol="0" anchor="t"/>
          <a:lstStyle/>
          <a:p>
            <a:pPr marL="0" indent="0" algn="just">
              <a:lnSpc>
                <a:spcPts val="1500"/>
              </a:lnSpc>
              <a:buNone/>
            </a:pPr>
            <a:r>
              <a:rPr lang="en-US" sz="1600" dirty="0">
                <a:solidFill>
                  <a:srgbClr val="61615C"/>
                </a:solidFill>
                <a:latin typeface="Tomorrow" pitchFamily="34" charset="0"/>
                <a:ea typeface="Tomorrow" pitchFamily="34" charset="-122"/>
                <a:cs typeface="Tomorrow" pitchFamily="34" charset="-120"/>
              </a:rPr>
              <a:t>Current OCR systems fail to understand student intent when they cross out words, write in margins, use arrows, or underline important keywords. VLM provides accuracy for complex handwriting but is slow and expensive. OCR is fast and cost-effective but less accurate. Fixed sensitivity settings can't handle varying handwriting quality. Result: inaccurate grading and lost marks for students.</a:t>
            </a:r>
            <a:endParaRPr lang="en-US" sz="1600" dirty="0"/>
          </a:p>
        </p:txBody>
      </p:sp>
      <p:sp>
        <p:nvSpPr>
          <p:cNvPr id="6" name="Text 3"/>
          <p:cNvSpPr/>
          <p:nvPr/>
        </p:nvSpPr>
        <p:spPr>
          <a:xfrm>
            <a:off x="8759068" y="4797996"/>
            <a:ext cx="1843564" cy="230386"/>
          </a:xfrm>
          <a:prstGeom prst="rect">
            <a:avLst/>
          </a:prstGeom>
          <a:noFill/>
          <a:ln/>
        </p:spPr>
        <p:txBody>
          <a:bodyPr wrap="none" lIns="0" tIns="0" rIns="0" bIns="0" rtlCol="0" anchor="t"/>
          <a:lstStyle/>
          <a:p>
            <a:pPr marL="0" indent="0" algn="l">
              <a:lnSpc>
                <a:spcPts val="1800"/>
              </a:lnSpc>
              <a:buNone/>
            </a:pPr>
            <a:r>
              <a:rPr lang="en-US" sz="2000" dirty="0">
                <a:solidFill>
                  <a:srgbClr val="1D1D1B"/>
                </a:solidFill>
                <a:latin typeface="Tomorrow Semi Bold" pitchFamily="34" charset="0"/>
                <a:ea typeface="Tomorrow Semi Bold" pitchFamily="34" charset="-122"/>
                <a:cs typeface="Tomorrow Semi Bold" pitchFamily="34" charset="-120"/>
              </a:rPr>
              <a:t>Key Issues</a:t>
            </a:r>
            <a:endParaRPr lang="en-US" sz="2000" dirty="0"/>
          </a:p>
        </p:txBody>
      </p:sp>
      <p:sp>
        <p:nvSpPr>
          <p:cNvPr id="7" name="Text 4"/>
          <p:cNvSpPr/>
          <p:nvPr/>
        </p:nvSpPr>
        <p:spPr>
          <a:xfrm>
            <a:off x="8624751" y="5187672"/>
            <a:ext cx="4881735" cy="2080498"/>
          </a:xfrm>
          <a:prstGeom prst="rect">
            <a:avLst/>
          </a:prstGeom>
          <a:noFill/>
          <a:ln/>
        </p:spPr>
        <p:txBody>
          <a:bodyPr wrap="square" lIns="0" tIns="0" rIns="0" bIns="0" rtlCol="0" anchor="t"/>
          <a:lstStyle/>
          <a:p>
            <a:pPr marL="342900" indent="-342900" algn="just">
              <a:lnSpc>
                <a:spcPts val="1500"/>
              </a:lnSpc>
              <a:buSzPct val="100000"/>
              <a:buChar char="•"/>
            </a:pPr>
            <a:r>
              <a:rPr lang="en-US" sz="1600" dirty="0">
                <a:solidFill>
                  <a:srgbClr val="61615C"/>
                </a:solidFill>
                <a:latin typeface="Tomorrow" pitchFamily="34" charset="0"/>
                <a:ea typeface="Tomorrow" pitchFamily="34" charset="-122"/>
                <a:cs typeface="Tomorrow" pitchFamily="34" charset="-120"/>
              </a:rPr>
              <a:t>Strike-throughs blindly deleted without intent analysis</a:t>
            </a:r>
            <a:endParaRPr lang="en-US" sz="1600" dirty="0"/>
          </a:p>
          <a:p>
            <a:pPr marL="342900" indent="-342900" algn="just">
              <a:lnSpc>
                <a:spcPts val="1500"/>
              </a:lnSpc>
              <a:buSzPct val="100000"/>
              <a:buChar char="•"/>
            </a:pPr>
            <a:r>
              <a:rPr lang="en-US" sz="1600" dirty="0">
                <a:solidFill>
                  <a:srgbClr val="61615C"/>
                </a:solidFill>
                <a:latin typeface="Tomorrow" pitchFamily="34" charset="0"/>
                <a:ea typeface="Tomorrow" pitchFamily="34" charset="-122"/>
                <a:cs typeface="Tomorrow" pitchFamily="34" charset="-120"/>
              </a:rPr>
              <a:t>One-size-fits-all OCR sensitivity ignores handwriting variations</a:t>
            </a:r>
            <a:endParaRPr lang="en-US" sz="1600" dirty="0"/>
          </a:p>
          <a:p>
            <a:pPr marL="342900" indent="-342900" algn="just">
              <a:lnSpc>
                <a:spcPts val="1500"/>
              </a:lnSpc>
              <a:buSzPct val="100000"/>
              <a:buChar char="•"/>
            </a:pPr>
            <a:r>
              <a:rPr lang="en-US" sz="1600" dirty="0">
                <a:solidFill>
                  <a:srgbClr val="61615C"/>
                </a:solidFill>
                <a:latin typeface="Tomorrow" pitchFamily="34" charset="0"/>
                <a:ea typeface="Tomorrow" pitchFamily="34" charset="-122"/>
                <a:cs typeface="Tomorrow" pitchFamily="34" charset="-120"/>
              </a:rPr>
              <a:t>Margin content and arrows completely ignored</a:t>
            </a:r>
            <a:endParaRPr lang="en-US" sz="1600" dirty="0"/>
          </a:p>
          <a:p>
            <a:pPr marL="342900" indent="-342900" algn="just">
              <a:lnSpc>
                <a:spcPts val="1500"/>
              </a:lnSpc>
              <a:buSzPct val="100000"/>
              <a:buChar char="•"/>
            </a:pPr>
            <a:r>
              <a:rPr lang="en-US" sz="1600" dirty="0">
                <a:solidFill>
                  <a:srgbClr val="61615C"/>
                </a:solidFill>
                <a:latin typeface="Tomorrow" pitchFamily="34" charset="0"/>
                <a:ea typeface="Tomorrow" pitchFamily="34" charset="-122"/>
                <a:cs typeface="Tomorrow" pitchFamily="34" charset="-120"/>
              </a:rPr>
              <a:t>Inconsistent LLM evaluations produce unreliable results</a:t>
            </a:r>
            <a:endParaRPr lang="en-US" sz="1600" dirty="0"/>
          </a:p>
          <a:p>
            <a:pPr marL="342900" indent="-342900" algn="just">
              <a:lnSpc>
                <a:spcPts val="1500"/>
              </a:lnSpc>
              <a:buSzPct val="100000"/>
              <a:buChar char="•"/>
            </a:pPr>
            <a:r>
              <a:rPr lang="en-US" sz="1600" dirty="0">
                <a:solidFill>
                  <a:srgbClr val="61615C"/>
                </a:solidFill>
                <a:latin typeface="Tomorrow" pitchFamily="34" charset="0"/>
                <a:ea typeface="Tomorrow" pitchFamily="34" charset="-122"/>
                <a:cs typeface="Tomorrow" pitchFamily="34" charset="-120"/>
              </a:rPr>
              <a:t>Underlined keywords in answers not recognized as important solution indicators</a:t>
            </a:r>
            <a:endParaRPr lang="en-US" sz="1600" dirty="0"/>
          </a:p>
        </p:txBody>
      </p:sp>
      <p:pic>
        <p:nvPicPr>
          <p:cNvPr id="9" name="Picture 8">
            <a:extLst>
              <a:ext uri="{FF2B5EF4-FFF2-40B4-BE49-F238E27FC236}">
                <a16:creationId xmlns:a16="http://schemas.microsoft.com/office/drawing/2014/main" id="{78BFAC7B-3B05-2E56-6B54-5BF7BD095BB6}"/>
              </a:ext>
            </a:extLst>
          </p:cNvPr>
          <p:cNvPicPr>
            <a:picLocks noChangeAspect="1"/>
          </p:cNvPicPr>
          <p:nvPr/>
        </p:nvPicPr>
        <p:blipFill>
          <a:blip r:embed="rId4"/>
          <a:stretch>
            <a:fillRect/>
          </a:stretch>
        </p:blipFill>
        <p:spPr>
          <a:xfrm>
            <a:off x="12094954" y="7676548"/>
            <a:ext cx="2467319" cy="5430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8914" y="849273"/>
            <a:ext cx="4692968" cy="586621"/>
          </a:xfrm>
          <a:prstGeom prst="rect">
            <a:avLst/>
          </a:prstGeom>
          <a:noFill/>
          <a:ln/>
        </p:spPr>
        <p:txBody>
          <a:bodyPr wrap="none" lIns="0" tIns="0" rIns="0" bIns="0" rtlCol="0" anchor="t"/>
          <a:lstStyle/>
          <a:p>
            <a:pPr marL="0" indent="0" algn="l">
              <a:lnSpc>
                <a:spcPts val="4600"/>
              </a:lnSpc>
              <a:buNone/>
            </a:pPr>
            <a:r>
              <a:rPr lang="en-US" sz="3650" dirty="0">
                <a:solidFill>
                  <a:srgbClr val="1D1D1B"/>
                </a:solidFill>
                <a:latin typeface="Tomorrow Semi Bold" pitchFamily="34" charset="0"/>
                <a:ea typeface="Tomorrow Semi Bold" pitchFamily="34" charset="-122"/>
                <a:cs typeface="Tomorrow Semi Bold" pitchFamily="34" charset="-120"/>
              </a:rPr>
              <a:t>Literature Survey</a:t>
            </a:r>
            <a:endParaRPr lang="en-US" sz="3650" dirty="0"/>
          </a:p>
        </p:txBody>
      </p:sp>
      <p:sp>
        <p:nvSpPr>
          <p:cNvPr id="3" name="Shape 1"/>
          <p:cNvSpPr/>
          <p:nvPr/>
        </p:nvSpPr>
        <p:spPr>
          <a:xfrm>
            <a:off x="838914" y="1746528"/>
            <a:ext cx="12952571" cy="5633799"/>
          </a:xfrm>
          <a:prstGeom prst="roundRect">
            <a:avLst>
              <a:gd name="adj" fmla="val 500"/>
            </a:avLst>
          </a:prstGeom>
          <a:noFill/>
          <a:ln w="7620">
            <a:solidFill>
              <a:srgbClr val="000000">
                <a:alpha val="8000"/>
              </a:srgbClr>
            </a:solidFill>
            <a:prstDash val="solid"/>
          </a:ln>
        </p:spPr>
      </p:sp>
      <p:sp>
        <p:nvSpPr>
          <p:cNvPr id="4" name="Shape 2"/>
          <p:cNvSpPr/>
          <p:nvPr/>
        </p:nvSpPr>
        <p:spPr>
          <a:xfrm>
            <a:off x="846534" y="1754148"/>
            <a:ext cx="12937331" cy="494705"/>
          </a:xfrm>
          <a:prstGeom prst="rect">
            <a:avLst/>
          </a:prstGeom>
          <a:solidFill>
            <a:srgbClr val="FFFFFF">
              <a:alpha val="4000"/>
            </a:srgbClr>
          </a:solidFill>
          <a:ln/>
        </p:spPr>
      </p:sp>
      <p:sp>
        <p:nvSpPr>
          <p:cNvPr id="5" name="Text 3"/>
          <p:cNvSpPr/>
          <p:nvPr/>
        </p:nvSpPr>
        <p:spPr>
          <a:xfrm>
            <a:off x="1034415" y="1854875"/>
            <a:ext cx="2346484" cy="293251"/>
          </a:xfrm>
          <a:prstGeom prst="rect">
            <a:avLst/>
          </a:prstGeom>
          <a:noFill/>
          <a:ln/>
        </p:spPr>
        <p:txBody>
          <a:bodyPr wrap="none" lIns="0" tIns="0" rIns="0" bIns="0" rtlCol="0" anchor="t"/>
          <a:lstStyle/>
          <a:p>
            <a:pPr marL="0" indent="0" algn="l">
              <a:lnSpc>
                <a:spcPts val="2300"/>
              </a:lnSpc>
              <a:buNone/>
            </a:pPr>
            <a:r>
              <a:rPr lang="en-US" sz="1800" dirty="0">
                <a:solidFill>
                  <a:srgbClr val="1D1D1B"/>
                </a:solidFill>
                <a:latin typeface="Tomorrow Semi Bold" pitchFamily="34" charset="0"/>
                <a:ea typeface="Tomorrow Semi Bold" pitchFamily="34" charset="-122"/>
                <a:cs typeface="Tomorrow Semi Bold" pitchFamily="34" charset="-120"/>
              </a:rPr>
              <a:t>Paper &amp; Authors</a:t>
            </a:r>
            <a:endParaRPr lang="en-US" sz="1800" dirty="0"/>
          </a:p>
        </p:txBody>
      </p:sp>
      <p:sp>
        <p:nvSpPr>
          <p:cNvPr id="6" name="Text 4"/>
          <p:cNvSpPr/>
          <p:nvPr/>
        </p:nvSpPr>
        <p:spPr>
          <a:xfrm>
            <a:off x="5307449" y="1854875"/>
            <a:ext cx="2346484" cy="293251"/>
          </a:xfrm>
          <a:prstGeom prst="rect">
            <a:avLst/>
          </a:prstGeom>
          <a:noFill/>
          <a:ln/>
        </p:spPr>
        <p:txBody>
          <a:bodyPr wrap="none" lIns="0" tIns="0" rIns="0" bIns="0" rtlCol="0" anchor="t"/>
          <a:lstStyle/>
          <a:p>
            <a:pPr marL="0" indent="0" algn="l">
              <a:lnSpc>
                <a:spcPts val="2300"/>
              </a:lnSpc>
              <a:buNone/>
            </a:pPr>
            <a:r>
              <a:rPr lang="en-US" sz="1800" dirty="0">
                <a:solidFill>
                  <a:srgbClr val="1D1D1B"/>
                </a:solidFill>
                <a:latin typeface="Tomorrow Semi Bold" pitchFamily="34" charset="0"/>
                <a:ea typeface="Tomorrow Semi Bold" pitchFamily="34" charset="-122"/>
                <a:cs typeface="Tomorrow Semi Bold" pitchFamily="34" charset="-120"/>
              </a:rPr>
              <a:t>Methodology</a:t>
            </a:r>
            <a:endParaRPr lang="en-US" sz="1800" dirty="0"/>
          </a:p>
        </p:txBody>
      </p:sp>
      <p:sp>
        <p:nvSpPr>
          <p:cNvPr id="7" name="Text 5"/>
          <p:cNvSpPr/>
          <p:nvPr/>
        </p:nvSpPr>
        <p:spPr>
          <a:xfrm>
            <a:off x="9576673" y="1854875"/>
            <a:ext cx="2346484" cy="293251"/>
          </a:xfrm>
          <a:prstGeom prst="rect">
            <a:avLst/>
          </a:prstGeom>
          <a:noFill/>
          <a:ln/>
        </p:spPr>
        <p:txBody>
          <a:bodyPr wrap="none" lIns="0" tIns="0" rIns="0" bIns="0" rtlCol="0" anchor="t"/>
          <a:lstStyle/>
          <a:p>
            <a:pPr marL="0" indent="0" algn="l">
              <a:lnSpc>
                <a:spcPts val="2300"/>
              </a:lnSpc>
              <a:buNone/>
            </a:pPr>
            <a:r>
              <a:rPr lang="en-US" sz="1800" dirty="0">
                <a:solidFill>
                  <a:srgbClr val="1D1D1B"/>
                </a:solidFill>
                <a:latin typeface="Tomorrow Semi Bold" pitchFamily="34" charset="0"/>
                <a:ea typeface="Tomorrow Semi Bold" pitchFamily="34" charset="-122"/>
                <a:cs typeface="Tomorrow Semi Bold" pitchFamily="34" charset="-120"/>
              </a:rPr>
              <a:t>Gap Identified</a:t>
            </a:r>
            <a:endParaRPr lang="en-US" sz="1800" dirty="0"/>
          </a:p>
        </p:txBody>
      </p:sp>
      <p:sp>
        <p:nvSpPr>
          <p:cNvPr id="8" name="Shape 6"/>
          <p:cNvSpPr/>
          <p:nvPr/>
        </p:nvSpPr>
        <p:spPr>
          <a:xfrm>
            <a:off x="846534" y="2248853"/>
            <a:ext cx="12937331" cy="1024771"/>
          </a:xfrm>
          <a:prstGeom prst="rect">
            <a:avLst/>
          </a:prstGeom>
          <a:solidFill>
            <a:srgbClr val="000000">
              <a:alpha val="4000"/>
            </a:srgbClr>
          </a:solidFill>
          <a:ln/>
        </p:spPr>
      </p:sp>
      <p:sp>
        <p:nvSpPr>
          <p:cNvPr id="9" name="Text 7"/>
          <p:cNvSpPr/>
          <p:nvPr/>
        </p:nvSpPr>
        <p:spPr>
          <a:xfrm>
            <a:off x="1034415" y="2349579"/>
            <a:ext cx="3890129" cy="823317"/>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OCR-Based Handwritten Text Recognition Systems: A Survey (Garrido-Muñoz et al., 2025)</a:t>
            </a:r>
            <a:endParaRPr lang="en-US" sz="1450" dirty="0"/>
          </a:p>
        </p:txBody>
      </p:sp>
      <p:sp>
        <p:nvSpPr>
          <p:cNvPr id="10" name="Text 8"/>
          <p:cNvSpPr/>
          <p:nvPr/>
        </p:nvSpPr>
        <p:spPr>
          <a:xfrm>
            <a:off x="5307449" y="2349579"/>
            <a:ext cx="3886319" cy="548878"/>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CNN-RNN hybrids, transformers (IMTLM-Net, PARSeq, ViTSTR), LLM/VLM integration</a:t>
            </a:r>
            <a:endParaRPr lang="en-US" sz="1450" dirty="0"/>
          </a:p>
        </p:txBody>
      </p:sp>
      <p:sp>
        <p:nvSpPr>
          <p:cNvPr id="11" name="Text 9"/>
          <p:cNvSpPr/>
          <p:nvPr/>
        </p:nvSpPr>
        <p:spPr>
          <a:xfrm>
            <a:off x="9576673" y="2349579"/>
            <a:ext cx="4019550" cy="548878"/>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No strike-through, margin, or arrow handling; OCR noise propagates to grading</a:t>
            </a:r>
            <a:endParaRPr lang="en-US" sz="1450" dirty="0"/>
          </a:p>
        </p:txBody>
      </p:sp>
      <p:sp>
        <p:nvSpPr>
          <p:cNvPr id="12" name="Shape 10"/>
          <p:cNvSpPr/>
          <p:nvPr/>
        </p:nvSpPr>
        <p:spPr>
          <a:xfrm>
            <a:off x="846534" y="3273623"/>
            <a:ext cx="12937331" cy="1024771"/>
          </a:xfrm>
          <a:prstGeom prst="rect">
            <a:avLst/>
          </a:prstGeom>
          <a:solidFill>
            <a:srgbClr val="FFFFFF">
              <a:alpha val="4000"/>
            </a:srgbClr>
          </a:solidFill>
          <a:ln/>
        </p:spPr>
      </p:sp>
      <p:sp>
        <p:nvSpPr>
          <p:cNvPr id="13" name="Text 11"/>
          <p:cNvSpPr/>
          <p:nvPr/>
        </p:nvSpPr>
        <p:spPr>
          <a:xfrm>
            <a:off x="1034415" y="3374350"/>
            <a:ext cx="3890129" cy="823317"/>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From Handwriting to Feedback: VLMs and LLMs in Indonesian Classrooms (Aisyah et al., 2025)</a:t>
            </a:r>
            <a:endParaRPr lang="en-US" sz="1450" dirty="0"/>
          </a:p>
        </p:txBody>
      </p:sp>
      <p:sp>
        <p:nvSpPr>
          <p:cNvPr id="14" name="Text 12"/>
          <p:cNvSpPr/>
          <p:nvPr/>
        </p:nvSpPr>
        <p:spPr>
          <a:xfrm>
            <a:off x="5307449" y="3374350"/>
            <a:ext cx="3886319" cy="548878"/>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GPT-4o VLM for OCR → JSON structuring → LLM grading with rubric</a:t>
            </a:r>
            <a:endParaRPr lang="en-US" sz="1450" dirty="0"/>
          </a:p>
        </p:txBody>
      </p:sp>
      <p:sp>
        <p:nvSpPr>
          <p:cNvPr id="15" name="Text 13"/>
          <p:cNvSpPr/>
          <p:nvPr/>
        </p:nvSpPr>
        <p:spPr>
          <a:xfrm>
            <a:off x="9576673" y="3374350"/>
            <a:ext cx="4019550" cy="548878"/>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No crossed-out words, margins, or arrows; single LLM call causes inconsistency</a:t>
            </a:r>
            <a:endParaRPr lang="en-US" sz="1450" dirty="0"/>
          </a:p>
        </p:txBody>
      </p:sp>
      <p:sp>
        <p:nvSpPr>
          <p:cNvPr id="16" name="Shape 14"/>
          <p:cNvSpPr/>
          <p:nvPr/>
        </p:nvSpPr>
        <p:spPr>
          <a:xfrm>
            <a:off x="846534" y="4298394"/>
            <a:ext cx="12937331" cy="1024771"/>
          </a:xfrm>
          <a:prstGeom prst="rect">
            <a:avLst/>
          </a:prstGeom>
          <a:solidFill>
            <a:srgbClr val="000000">
              <a:alpha val="4000"/>
            </a:srgbClr>
          </a:solidFill>
          <a:ln/>
        </p:spPr>
      </p:sp>
      <p:sp>
        <p:nvSpPr>
          <p:cNvPr id="17" name="Text 15"/>
          <p:cNvSpPr/>
          <p:nvPr/>
        </p:nvSpPr>
        <p:spPr>
          <a:xfrm>
            <a:off x="1034415" y="4399121"/>
            <a:ext cx="3890129" cy="823317"/>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AI Grading on Real-World Handwritten College Mathematics (Large-Scale Study, 2025)</a:t>
            </a:r>
            <a:endParaRPr lang="en-US" sz="1450" dirty="0"/>
          </a:p>
        </p:txBody>
      </p:sp>
      <p:sp>
        <p:nvSpPr>
          <p:cNvPr id="18" name="Text 16"/>
          <p:cNvSpPr/>
          <p:nvPr/>
        </p:nvSpPr>
        <p:spPr>
          <a:xfrm>
            <a:off x="5307449" y="4399121"/>
            <a:ext cx="3886319" cy="548878"/>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Segmentation → OCR-to-LaTeX (GPT-4.1-mini) → rubric-based LLM grading</a:t>
            </a:r>
            <a:endParaRPr lang="en-US" sz="1450" dirty="0"/>
          </a:p>
        </p:txBody>
      </p:sp>
      <p:sp>
        <p:nvSpPr>
          <p:cNvPr id="19" name="Text 17"/>
          <p:cNvSpPr/>
          <p:nvPr/>
        </p:nvSpPr>
        <p:spPr>
          <a:xfrm>
            <a:off x="9576673" y="4399121"/>
            <a:ext cx="4019550" cy="548878"/>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LLM reasoning instability on multi-step problems; inconsistent partial credit</a:t>
            </a:r>
            <a:endParaRPr lang="en-US" sz="1450" dirty="0"/>
          </a:p>
        </p:txBody>
      </p:sp>
      <p:sp>
        <p:nvSpPr>
          <p:cNvPr id="20" name="Shape 18"/>
          <p:cNvSpPr/>
          <p:nvPr/>
        </p:nvSpPr>
        <p:spPr>
          <a:xfrm>
            <a:off x="846534" y="5323165"/>
            <a:ext cx="12937331" cy="1024771"/>
          </a:xfrm>
          <a:prstGeom prst="rect">
            <a:avLst/>
          </a:prstGeom>
          <a:solidFill>
            <a:srgbClr val="FFFFFF">
              <a:alpha val="4000"/>
            </a:srgbClr>
          </a:solidFill>
          <a:ln/>
        </p:spPr>
      </p:sp>
      <p:sp>
        <p:nvSpPr>
          <p:cNvPr id="21" name="Text 19"/>
          <p:cNvSpPr/>
          <p:nvPr/>
        </p:nvSpPr>
        <p:spPr>
          <a:xfrm>
            <a:off x="1034415" y="5423892"/>
            <a:ext cx="3890129" cy="823317"/>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Evaluating GPT-4 for Grading Handwritten Math Exams (Caraeni, Scarlatos &amp; Lan, 2024)</a:t>
            </a:r>
            <a:endParaRPr lang="en-US" sz="1450" dirty="0"/>
          </a:p>
        </p:txBody>
      </p:sp>
      <p:sp>
        <p:nvSpPr>
          <p:cNvPr id="22" name="Text 20"/>
          <p:cNvSpPr/>
          <p:nvPr/>
        </p:nvSpPr>
        <p:spPr>
          <a:xfrm>
            <a:off x="5307449" y="5423892"/>
            <a:ext cx="3886319" cy="548878"/>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GPT-4o with contextual rubric prompts on 18 real exam sheets</a:t>
            </a:r>
            <a:endParaRPr lang="en-US" sz="1450" dirty="0"/>
          </a:p>
        </p:txBody>
      </p:sp>
      <p:sp>
        <p:nvSpPr>
          <p:cNvPr id="23" name="Text 21"/>
          <p:cNvSpPr/>
          <p:nvPr/>
        </p:nvSpPr>
        <p:spPr>
          <a:xfrm>
            <a:off x="9576673" y="5423892"/>
            <a:ext cx="4019550" cy="823317"/>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Struggles with answer justification; no struck-out correction handling; score variance unsolved</a:t>
            </a:r>
            <a:endParaRPr lang="en-US" sz="1450" dirty="0"/>
          </a:p>
        </p:txBody>
      </p:sp>
      <p:sp>
        <p:nvSpPr>
          <p:cNvPr id="24" name="Shape 22"/>
          <p:cNvSpPr/>
          <p:nvPr/>
        </p:nvSpPr>
        <p:spPr>
          <a:xfrm>
            <a:off x="846534" y="6347936"/>
            <a:ext cx="12937331" cy="1024771"/>
          </a:xfrm>
          <a:prstGeom prst="rect">
            <a:avLst/>
          </a:prstGeom>
          <a:solidFill>
            <a:srgbClr val="000000">
              <a:alpha val="4000"/>
            </a:srgbClr>
          </a:solidFill>
          <a:ln/>
        </p:spPr>
      </p:sp>
      <p:sp>
        <p:nvSpPr>
          <p:cNvPr id="25" name="Text 23"/>
          <p:cNvSpPr/>
          <p:nvPr/>
        </p:nvSpPr>
        <p:spPr>
          <a:xfrm>
            <a:off x="1034415" y="6448663"/>
            <a:ext cx="3890129" cy="823317"/>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SmartPen: Automated Grading of Handwritten Answer Scripts (SmartPen System, 2024)</a:t>
            </a:r>
            <a:endParaRPr lang="en-US" sz="1450" dirty="0"/>
          </a:p>
        </p:txBody>
      </p:sp>
      <p:sp>
        <p:nvSpPr>
          <p:cNvPr id="26" name="Text 24"/>
          <p:cNvSpPr/>
          <p:nvPr/>
        </p:nvSpPr>
        <p:spPr>
          <a:xfrm>
            <a:off x="5307449" y="6448663"/>
            <a:ext cx="3886319" cy="823317"/>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Tesseract OCR + Sentence-BERT semantic similarity (92% match with human grading)</a:t>
            </a:r>
            <a:endParaRPr lang="en-US" sz="1450" dirty="0"/>
          </a:p>
        </p:txBody>
      </p:sp>
      <p:sp>
        <p:nvSpPr>
          <p:cNvPr id="27" name="Text 25"/>
          <p:cNvSpPr/>
          <p:nvPr/>
        </p:nvSpPr>
        <p:spPr>
          <a:xfrm>
            <a:off x="9576673" y="6448663"/>
            <a:ext cx="4019550" cy="823317"/>
          </a:xfrm>
          <a:prstGeom prst="rect">
            <a:avLst/>
          </a:prstGeom>
          <a:noFill/>
          <a:ln/>
        </p:spPr>
        <p:txBody>
          <a:bodyPr wrap="square" lIns="0" tIns="0" rIns="0" bIns="0" rtlCol="0" anchor="t"/>
          <a:lstStyle/>
          <a:p>
            <a:pPr marL="0" indent="0" algn="l">
              <a:lnSpc>
                <a:spcPts val="2150"/>
              </a:lnSpc>
              <a:buNone/>
            </a:pPr>
            <a:r>
              <a:rPr lang="en-US" sz="1450" dirty="0">
                <a:solidFill>
                  <a:srgbClr val="61615C"/>
                </a:solidFill>
                <a:latin typeface="Tomorrow" pitchFamily="34" charset="0"/>
                <a:ea typeface="Tomorrow" pitchFamily="34" charset="-122"/>
                <a:cs typeface="Tomorrow" pitchFamily="34" charset="-120"/>
              </a:rPr>
              <a:t>Fixed OCR threshold with no adaptive thresholding; struck-out text ignored; no feedback generation</a:t>
            </a:r>
            <a:endParaRPr lang="en-US" sz="1450" dirty="0"/>
          </a:p>
        </p:txBody>
      </p:sp>
      <p:pic>
        <p:nvPicPr>
          <p:cNvPr id="28" name="Picture 27">
            <a:extLst>
              <a:ext uri="{FF2B5EF4-FFF2-40B4-BE49-F238E27FC236}">
                <a16:creationId xmlns:a16="http://schemas.microsoft.com/office/drawing/2014/main" id="{61CE4388-FF06-8409-3F6B-7BC22B391E0E}"/>
              </a:ext>
            </a:extLst>
          </p:cNvPr>
          <p:cNvPicPr>
            <a:picLocks noChangeAspect="1"/>
          </p:cNvPicPr>
          <p:nvPr/>
        </p:nvPicPr>
        <p:blipFill>
          <a:blip r:embed="rId3"/>
          <a:stretch>
            <a:fillRect/>
          </a:stretch>
        </p:blipFill>
        <p:spPr>
          <a:xfrm>
            <a:off x="12094954" y="7688123"/>
            <a:ext cx="2467319" cy="5430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6991" y="880229"/>
            <a:ext cx="5957173" cy="613410"/>
          </a:xfrm>
          <a:prstGeom prst="rect">
            <a:avLst/>
          </a:prstGeom>
          <a:noFill/>
          <a:ln/>
        </p:spPr>
        <p:txBody>
          <a:bodyPr wrap="none" lIns="0" tIns="0" rIns="0" bIns="0" rtlCol="0" anchor="t"/>
          <a:lstStyle/>
          <a:p>
            <a:pPr marL="0" indent="0" algn="l">
              <a:lnSpc>
                <a:spcPts val="4800"/>
              </a:lnSpc>
              <a:buNone/>
            </a:pPr>
            <a:r>
              <a:rPr lang="en-US" sz="3850" dirty="0">
                <a:solidFill>
                  <a:srgbClr val="1D1D1B"/>
                </a:solidFill>
                <a:latin typeface="Tomorrow Semi Bold" pitchFamily="34" charset="0"/>
                <a:ea typeface="Tomorrow Semi Bold" pitchFamily="34" charset="-122"/>
                <a:cs typeface="Tomorrow Semi Bold" pitchFamily="34" charset="-120"/>
              </a:rPr>
              <a:t>Research Gap Identified</a:t>
            </a:r>
            <a:endParaRPr lang="en-US" sz="3850" dirty="0"/>
          </a:p>
        </p:txBody>
      </p:sp>
      <p:sp>
        <p:nvSpPr>
          <p:cNvPr id="3" name="Shape 1"/>
          <p:cNvSpPr/>
          <p:nvPr/>
        </p:nvSpPr>
        <p:spPr>
          <a:xfrm>
            <a:off x="686991" y="1833324"/>
            <a:ext cx="6543318" cy="1725454"/>
          </a:xfrm>
          <a:prstGeom prst="roundRect">
            <a:avLst>
              <a:gd name="adj" fmla="val 6359"/>
            </a:avLst>
          </a:prstGeom>
          <a:solidFill>
            <a:srgbClr val="FCFCFC"/>
          </a:solidFill>
          <a:ln w="22860">
            <a:solidFill>
              <a:srgbClr val="D6D0D0"/>
            </a:solidFill>
            <a:prstDash val="solid"/>
          </a:ln>
        </p:spPr>
      </p:sp>
      <p:sp>
        <p:nvSpPr>
          <p:cNvPr id="4" name="Shape 2"/>
          <p:cNvSpPr/>
          <p:nvPr/>
        </p:nvSpPr>
        <p:spPr>
          <a:xfrm>
            <a:off x="664131" y="1833324"/>
            <a:ext cx="91440" cy="1725454"/>
          </a:xfrm>
          <a:prstGeom prst="roundRect">
            <a:avLst>
              <a:gd name="adj" fmla="val 32200"/>
            </a:avLst>
          </a:prstGeom>
          <a:solidFill>
            <a:srgbClr val="1D1D1B"/>
          </a:solidFill>
          <a:ln/>
        </p:spPr>
      </p:sp>
      <p:sp>
        <p:nvSpPr>
          <p:cNvPr id="5" name="Text 3"/>
          <p:cNvSpPr/>
          <p:nvPr/>
        </p:nvSpPr>
        <p:spPr>
          <a:xfrm>
            <a:off x="974646" y="2052399"/>
            <a:ext cx="4189928" cy="306705"/>
          </a:xfrm>
          <a:prstGeom prst="rect">
            <a:avLst/>
          </a:prstGeom>
          <a:noFill/>
          <a:ln/>
        </p:spPr>
        <p:txBody>
          <a:bodyPr wrap="none" lIns="0" tIns="0" rIns="0" bIns="0" rtlCol="0" anchor="t"/>
          <a:lstStyle/>
          <a:p>
            <a:pPr marL="0" indent="0" algn="l">
              <a:lnSpc>
                <a:spcPts val="2400"/>
              </a:lnSpc>
              <a:buNone/>
            </a:pPr>
            <a:r>
              <a:rPr lang="en-US" sz="1900" dirty="0">
                <a:solidFill>
                  <a:srgbClr val="61615C"/>
                </a:solidFill>
                <a:latin typeface="Tomorrow Semi Bold" pitchFamily="34" charset="0"/>
                <a:ea typeface="Tomorrow Semi Bold" pitchFamily="34" charset="-122"/>
                <a:cs typeface="Tomorrow Semi Bold" pitchFamily="34" charset="-120"/>
              </a:rPr>
              <a:t>Underline Keyword Detection Gap</a:t>
            </a:r>
            <a:endParaRPr lang="en-US" sz="1900" dirty="0"/>
          </a:p>
        </p:txBody>
      </p:sp>
      <p:sp>
        <p:nvSpPr>
          <p:cNvPr id="6" name="Text 4"/>
          <p:cNvSpPr/>
          <p:nvPr/>
        </p:nvSpPr>
        <p:spPr>
          <a:xfrm>
            <a:off x="974646" y="2461022"/>
            <a:ext cx="6036588" cy="878681"/>
          </a:xfrm>
          <a:prstGeom prst="rect">
            <a:avLst/>
          </a:prstGeom>
          <a:noFill/>
          <a:ln/>
        </p:spPr>
        <p:txBody>
          <a:bodyPr wrap="square" lIns="0" tIns="0" rIns="0" bIns="0" rtlCol="0" anchor="t"/>
          <a:lstStyle/>
          <a:p>
            <a:pPr marL="0" indent="0" algn="l">
              <a:lnSpc>
                <a:spcPts val="2300"/>
              </a:lnSpc>
              <a:buNone/>
            </a:pPr>
            <a:r>
              <a:rPr lang="en-US" sz="1500" dirty="0">
                <a:solidFill>
                  <a:srgbClr val="61615C"/>
                </a:solidFill>
                <a:latin typeface="Tomorrow" pitchFamily="34" charset="0"/>
                <a:ea typeface="Tomorrow" pitchFamily="34" charset="-122"/>
                <a:cs typeface="Tomorrow" pitchFamily="34" charset="-120"/>
              </a:rPr>
              <a:t>Detect and recognize </a:t>
            </a:r>
            <a:r>
              <a:rPr lang="en-US" sz="1500" b="1" dirty="0">
                <a:solidFill>
                  <a:srgbClr val="61615C"/>
                </a:solidFill>
                <a:latin typeface="Tomorrow" pitchFamily="34" charset="0"/>
                <a:ea typeface="Tomorrow" pitchFamily="34" charset="-122"/>
                <a:cs typeface="Tomorrow" pitchFamily="34" charset="-120"/>
              </a:rPr>
              <a:t>underlined text as important keywords</a:t>
            </a:r>
            <a:r>
              <a:rPr lang="en-US" sz="1500" dirty="0">
                <a:solidFill>
                  <a:srgbClr val="61615C"/>
                </a:solidFill>
                <a:latin typeface="Tomorrow" pitchFamily="34" charset="0"/>
                <a:ea typeface="Tomorrow" pitchFamily="34" charset="-122"/>
                <a:cs typeface="Tomorrow" pitchFamily="34" charset="-120"/>
              </a:rPr>
              <a:t> in student answers, enabling automatic keyword extraction and importance weighting in evaluation.</a:t>
            </a:r>
            <a:endParaRPr lang="en-US" sz="1500" dirty="0"/>
          </a:p>
        </p:txBody>
      </p:sp>
      <p:sp>
        <p:nvSpPr>
          <p:cNvPr id="7" name="Shape 5"/>
          <p:cNvSpPr/>
          <p:nvPr/>
        </p:nvSpPr>
        <p:spPr>
          <a:xfrm>
            <a:off x="7400092" y="1833324"/>
            <a:ext cx="6543318" cy="1725454"/>
          </a:xfrm>
          <a:prstGeom prst="roundRect">
            <a:avLst>
              <a:gd name="adj" fmla="val 6359"/>
            </a:avLst>
          </a:prstGeom>
          <a:solidFill>
            <a:srgbClr val="FCFCFC"/>
          </a:solidFill>
          <a:ln w="22860">
            <a:solidFill>
              <a:srgbClr val="D6D0D0"/>
            </a:solidFill>
            <a:prstDash val="solid"/>
          </a:ln>
        </p:spPr>
      </p:sp>
      <p:sp>
        <p:nvSpPr>
          <p:cNvPr id="8" name="Shape 6"/>
          <p:cNvSpPr/>
          <p:nvPr/>
        </p:nvSpPr>
        <p:spPr>
          <a:xfrm>
            <a:off x="7377232" y="1833324"/>
            <a:ext cx="91440" cy="1725454"/>
          </a:xfrm>
          <a:prstGeom prst="roundRect">
            <a:avLst>
              <a:gd name="adj" fmla="val 32200"/>
            </a:avLst>
          </a:prstGeom>
          <a:solidFill>
            <a:srgbClr val="1D1D1B"/>
          </a:solidFill>
          <a:ln/>
        </p:spPr>
      </p:sp>
      <p:sp>
        <p:nvSpPr>
          <p:cNvPr id="9" name="Text 7"/>
          <p:cNvSpPr/>
          <p:nvPr/>
        </p:nvSpPr>
        <p:spPr>
          <a:xfrm>
            <a:off x="7687747" y="2052399"/>
            <a:ext cx="3033593" cy="306705"/>
          </a:xfrm>
          <a:prstGeom prst="rect">
            <a:avLst/>
          </a:prstGeom>
          <a:noFill/>
          <a:ln/>
        </p:spPr>
        <p:txBody>
          <a:bodyPr wrap="none" lIns="0" tIns="0" rIns="0" bIns="0" rtlCol="0" anchor="t"/>
          <a:lstStyle/>
          <a:p>
            <a:pPr marL="0" indent="0" algn="l">
              <a:lnSpc>
                <a:spcPts val="2400"/>
              </a:lnSpc>
              <a:buNone/>
            </a:pPr>
            <a:r>
              <a:rPr lang="en-US" sz="1900" dirty="0">
                <a:solidFill>
                  <a:srgbClr val="61615C"/>
                </a:solidFill>
                <a:latin typeface="Tomorrow Semi Bold" pitchFamily="34" charset="0"/>
                <a:ea typeface="Tomorrow Semi Bold" pitchFamily="34" charset="-122"/>
                <a:cs typeface="Tomorrow Semi Bold" pitchFamily="34" charset="-120"/>
              </a:rPr>
              <a:t>Intent Classification Gap</a:t>
            </a:r>
            <a:endParaRPr lang="en-US" sz="1900" dirty="0"/>
          </a:p>
        </p:txBody>
      </p:sp>
      <p:sp>
        <p:nvSpPr>
          <p:cNvPr id="10" name="Text 8"/>
          <p:cNvSpPr/>
          <p:nvPr/>
        </p:nvSpPr>
        <p:spPr>
          <a:xfrm>
            <a:off x="7687747" y="2461022"/>
            <a:ext cx="6036588" cy="878681"/>
          </a:xfrm>
          <a:prstGeom prst="rect">
            <a:avLst/>
          </a:prstGeom>
          <a:noFill/>
          <a:ln/>
        </p:spPr>
        <p:txBody>
          <a:bodyPr wrap="square" lIns="0" tIns="0" rIns="0" bIns="0" rtlCol="0" anchor="t"/>
          <a:lstStyle/>
          <a:p>
            <a:pPr marL="0" indent="0" algn="l">
              <a:lnSpc>
                <a:spcPts val="2300"/>
              </a:lnSpc>
              <a:buNone/>
            </a:pPr>
            <a:r>
              <a:rPr lang="en-US" sz="1500" dirty="0">
                <a:solidFill>
                  <a:srgbClr val="61615C"/>
                </a:solidFill>
                <a:latin typeface="Tomorrow" pitchFamily="34" charset="0"/>
                <a:ea typeface="Tomorrow" pitchFamily="34" charset="-122"/>
                <a:cs typeface="Tomorrow" pitchFamily="34" charset="-120"/>
              </a:rPr>
              <a:t>Develop </a:t>
            </a:r>
            <a:r>
              <a:rPr lang="en-US" sz="1500" b="1" dirty="0">
                <a:solidFill>
                  <a:srgbClr val="61615C"/>
                </a:solidFill>
                <a:latin typeface="Tomorrow" pitchFamily="34" charset="0"/>
                <a:ea typeface="Tomorrow" pitchFamily="34" charset="-122"/>
                <a:cs typeface="Tomorrow" pitchFamily="34" charset="-120"/>
              </a:rPr>
              <a:t>strike-through pattern recognition</a:t>
            </a:r>
            <a:r>
              <a:rPr lang="en-US" sz="1500" dirty="0">
                <a:solidFill>
                  <a:srgbClr val="61615C"/>
                </a:solidFill>
                <a:latin typeface="Tomorrow" pitchFamily="34" charset="0"/>
                <a:ea typeface="Tomorrow" pitchFamily="34" charset="-122"/>
                <a:cs typeface="Tomorrow" pitchFamily="34" charset="-120"/>
              </a:rPr>
              <a:t> to distinguish between corrections, emphasis, and additions when students cross out text.</a:t>
            </a:r>
            <a:endParaRPr lang="en-US" sz="1500" dirty="0"/>
          </a:p>
        </p:txBody>
      </p:sp>
      <p:sp>
        <p:nvSpPr>
          <p:cNvPr id="11" name="Shape 9"/>
          <p:cNvSpPr/>
          <p:nvPr/>
        </p:nvSpPr>
        <p:spPr>
          <a:xfrm>
            <a:off x="686991" y="3728561"/>
            <a:ext cx="6543318" cy="1725454"/>
          </a:xfrm>
          <a:prstGeom prst="roundRect">
            <a:avLst>
              <a:gd name="adj" fmla="val 6359"/>
            </a:avLst>
          </a:prstGeom>
          <a:solidFill>
            <a:srgbClr val="FCFCFC"/>
          </a:solidFill>
          <a:ln w="22860">
            <a:solidFill>
              <a:srgbClr val="D6D0D0"/>
            </a:solidFill>
            <a:prstDash val="solid"/>
          </a:ln>
        </p:spPr>
      </p:sp>
      <p:sp>
        <p:nvSpPr>
          <p:cNvPr id="12" name="Shape 10"/>
          <p:cNvSpPr/>
          <p:nvPr/>
        </p:nvSpPr>
        <p:spPr>
          <a:xfrm>
            <a:off x="664131" y="3728561"/>
            <a:ext cx="91440" cy="1725454"/>
          </a:xfrm>
          <a:prstGeom prst="roundRect">
            <a:avLst>
              <a:gd name="adj" fmla="val 32200"/>
            </a:avLst>
          </a:prstGeom>
          <a:solidFill>
            <a:srgbClr val="1D1D1B"/>
          </a:solidFill>
          <a:ln/>
        </p:spPr>
      </p:sp>
      <p:sp>
        <p:nvSpPr>
          <p:cNvPr id="13" name="Text 11"/>
          <p:cNvSpPr/>
          <p:nvPr/>
        </p:nvSpPr>
        <p:spPr>
          <a:xfrm>
            <a:off x="974646" y="3947636"/>
            <a:ext cx="3045500" cy="306705"/>
          </a:xfrm>
          <a:prstGeom prst="rect">
            <a:avLst/>
          </a:prstGeom>
          <a:noFill/>
          <a:ln/>
        </p:spPr>
        <p:txBody>
          <a:bodyPr wrap="none" lIns="0" tIns="0" rIns="0" bIns="0" rtlCol="0" anchor="t"/>
          <a:lstStyle/>
          <a:p>
            <a:pPr marL="0" indent="0" algn="l">
              <a:lnSpc>
                <a:spcPts val="2400"/>
              </a:lnSpc>
              <a:buNone/>
            </a:pPr>
            <a:r>
              <a:rPr lang="en-US" sz="1900" dirty="0">
                <a:solidFill>
                  <a:srgbClr val="61615C"/>
                </a:solidFill>
                <a:latin typeface="Tomorrow Semi Bold" pitchFamily="34" charset="0"/>
                <a:ea typeface="Tomorrow Semi Bold" pitchFamily="34" charset="-122"/>
                <a:cs typeface="Tomorrow Semi Bold" pitchFamily="34" charset="-120"/>
              </a:rPr>
              <a:t>Adaptive Sensitivity Gap</a:t>
            </a:r>
            <a:endParaRPr lang="en-US" sz="1900" dirty="0"/>
          </a:p>
        </p:txBody>
      </p:sp>
      <p:sp>
        <p:nvSpPr>
          <p:cNvPr id="14" name="Text 12"/>
          <p:cNvSpPr/>
          <p:nvPr/>
        </p:nvSpPr>
        <p:spPr>
          <a:xfrm>
            <a:off x="974646" y="4356259"/>
            <a:ext cx="6036588" cy="878681"/>
          </a:xfrm>
          <a:prstGeom prst="rect">
            <a:avLst/>
          </a:prstGeom>
          <a:noFill/>
          <a:ln/>
        </p:spPr>
        <p:txBody>
          <a:bodyPr wrap="square" lIns="0" tIns="0" rIns="0" bIns="0" rtlCol="0" anchor="t"/>
          <a:lstStyle/>
          <a:p>
            <a:pPr marL="0" indent="0" algn="l">
              <a:lnSpc>
                <a:spcPts val="2300"/>
              </a:lnSpc>
              <a:buNone/>
            </a:pPr>
            <a:r>
              <a:rPr lang="en-US" sz="1500" dirty="0">
                <a:solidFill>
                  <a:srgbClr val="61615C"/>
                </a:solidFill>
                <a:latin typeface="Tomorrow" pitchFamily="34" charset="0"/>
                <a:ea typeface="Tomorrow" pitchFamily="34" charset="-122"/>
                <a:cs typeface="Tomorrow" pitchFamily="34" charset="-120"/>
              </a:rPr>
              <a:t>Implement </a:t>
            </a:r>
            <a:r>
              <a:rPr lang="en-US" sz="1500" b="1" dirty="0">
                <a:solidFill>
                  <a:srgbClr val="61615C"/>
                </a:solidFill>
                <a:latin typeface="Tomorrow" pitchFamily="34" charset="0"/>
                <a:ea typeface="Tomorrow" pitchFamily="34" charset="-122"/>
                <a:cs typeface="Tomorrow" pitchFamily="34" charset="-120"/>
              </a:rPr>
              <a:t>dynamic VLM sensitivity adjustment</a:t>
            </a:r>
            <a:r>
              <a:rPr lang="en-US" sz="1500" dirty="0">
                <a:solidFill>
                  <a:srgbClr val="61615C"/>
                </a:solidFill>
                <a:latin typeface="Tomorrow" pitchFamily="34" charset="0"/>
                <a:ea typeface="Tomorrow" pitchFamily="34" charset="-122"/>
                <a:cs typeface="Tomorrow" pitchFamily="34" charset="-120"/>
              </a:rPr>
              <a:t> that adapts to handwriting quality variations, avoiding a fixed trade-off between messy and neat scripts.</a:t>
            </a:r>
            <a:endParaRPr lang="en-US" sz="1500" dirty="0"/>
          </a:p>
        </p:txBody>
      </p:sp>
      <p:sp>
        <p:nvSpPr>
          <p:cNvPr id="15" name="Shape 13"/>
          <p:cNvSpPr/>
          <p:nvPr/>
        </p:nvSpPr>
        <p:spPr>
          <a:xfrm>
            <a:off x="7400092" y="3728561"/>
            <a:ext cx="6543318" cy="1725454"/>
          </a:xfrm>
          <a:prstGeom prst="roundRect">
            <a:avLst>
              <a:gd name="adj" fmla="val 6359"/>
            </a:avLst>
          </a:prstGeom>
          <a:solidFill>
            <a:srgbClr val="FCFCFC"/>
          </a:solidFill>
          <a:ln w="22860">
            <a:solidFill>
              <a:srgbClr val="D6D0D0"/>
            </a:solidFill>
            <a:prstDash val="solid"/>
          </a:ln>
        </p:spPr>
      </p:sp>
      <p:sp>
        <p:nvSpPr>
          <p:cNvPr id="16" name="Shape 14"/>
          <p:cNvSpPr/>
          <p:nvPr/>
        </p:nvSpPr>
        <p:spPr>
          <a:xfrm>
            <a:off x="7377232" y="3728561"/>
            <a:ext cx="91440" cy="1725454"/>
          </a:xfrm>
          <a:prstGeom prst="roundRect">
            <a:avLst>
              <a:gd name="adj" fmla="val 32200"/>
            </a:avLst>
          </a:prstGeom>
          <a:solidFill>
            <a:srgbClr val="1D1D1B"/>
          </a:solidFill>
          <a:ln/>
        </p:spPr>
      </p:sp>
      <p:sp>
        <p:nvSpPr>
          <p:cNvPr id="17" name="Text 15"/>
          <p:cNvSpPr/>
          <p:nvPr/>
        </p:nvSpPr>
        <p:spPr>
          <a:xfrm>
            <a:off x="7687747" y="3947636"/>
            <a:ext cx="2873097" cy="306705"/>
          </a:xfrm>
          <a:prstGeom prst="rect">
            <a:avLst/>
          </a:prstGeom>
          <a:noFill/>
          <a:ln/>
        </p:spPr>
        <p:txBody>
          <a:bodyPr wrap="none" lIns="0" tIns="0" rIns="0" bIns="0" rtlCol="0" anchor="t"/>
          <a:lstStyle/>
          <a:p>
            <a:pPr marL="0" indent="0" algn="l">
              <a:lnSpc>
                <a:spcPts val="2400"/>
              </a:lnSpc>
              <a:buNone/>
            </a:pPr>
            <a:r>
              <a:rPr lang="en-US" sz="1900" dirty="0">
                <a:solidFill>
                  <a:srgbClr val="61615C"/>
                </a:solidFill>
                <a:latin typeface="Tomorrow Semi Bold" pitchFamily="34" charset="0"/>
                <a:ea typeface="Tomorrow Semi Bold" pitchFamily="34" charset="-122"/>
                <a:cs typeface="Tomorrow Semi Bold" pitchFamily="34" charset="-120"/>
              </a:rPr>
              <a:t>Margin Integration Gap</a:t>
            </a:r>
            <a:endParaRPr lang="en-US" sz="1900" dirty="0"/>
          </a:p>
        </p:txBody>
      </p:sp>
      <p:sp>
        <p:nvSpPr>
          <p:cNvPr id="18" name="Text 16"/>
          <p:cNvSpPr/>
          <p:nvPr/>
        </p:nvSpPr>
        <p:spPr>
          <a:xfrm>
            <a:off x="7687747" y="4356259"/>
            <a:ext cx="6036588" cy="585788"/>
          </a:xfrm>
          <a:prstGeom prst="rect">
            <a:avLst/>
          </a:prstGeom>
          <a:noFill/>
          <a:ln/>
        </p:spPr>
        <p:txBody>
          <a:bodyPr wrap="square" lIns="0" tIns="0" rIns="0" bIns="0" rtlCol="0" anchor="t"/>
          <a:lstStyle/>
          <a:p>
            <a:pPr marL="0" indent="0" algn="l">
              <a:lnSpc>
                <a:spcPts val="2300"/>
              </a:lnSpc>
              <a:buNone/>
            </a:pPr>
            <a:r>
              <a:rPr lang="en-US" sz="1500" dirty="0">
                <a:solidFill>
                  <a:srgbClr val="61615C"/>
                </a:solidFill>
                <a:latin typeface="Tomorrow" pitchFamily="34" charset="0"/>
                <a:ea typeface="Tomorrow" pitchFamily="34" charset="-122"/>
                <a:cs typeface="Tomorrow" pitchFamily="34" charset="-120"/>
              </a:rPr>
              <a:t>Create </a:t>
            </a:r>
            <a:r>
              <a:rPr lang="en-US" sz="1500" b="1" dirty="0">
                <a:solidFill>
                  <a:srgbClr val="61615C"/>
                </a:solidFill>
                <a:latin typeface="Tomorrow" pitchFamily="34" charset="0"/>
                <a:ea typeface="Tomorrow" pitchFamily="34" charset="-122"/>
                <a:cs typeface="Tomorrow" pitchFamily="34" charset="-120"/>
              </a:rPr>
              <a:t>arrow-guided margin text stitching</a:t>
            </a:r>
            <a:r>
              <a:rPr lang="en-US" sz="1500" dirty="0">
                <a:solidFill>
                  <a:srgbClr val="61615C"/>
                </a:solidFill>
                <a:latin typeface="Tomorrow" pitchFamily="34" charset="0"/>
                <a:ea typeface="Tomorrow" pitchFamily="34" charset="-122"/>
                <a:cs typeface="Tomorrow" pitchFamily="34" charset="-120"/>
              </a:rPr>
              <a:t> to reliably integrate overflow or marginal notes into the logical answer flow.</a:t>
            </a:r>
            <a:endParaRPr lang="en-US" sz="1500" dirty="0"/>
          </a:p>
        </p:txBody>
      </p:sp>
      <p:sp>
        <p:nvSpPr>
          <p:cNvPr id="19" name="Shape 17"/>
          <p:cNvSpPr/>
          <p:nvPr/>
        </p:nvSpPr>
        <p:spPr>
          <a:xfrm>
            <a:off x="686991" y="5623798"/>
            <a:ext cx="6543318" cy="1725454"/>
          </a:xfrm>
          <a:prstGeom prst="roundRect">
            <a:avLst>
              <a:gd name="adj" fmla="val 6359"/>
            </a:avLst>
          </a:prstGeom>
          <a:solidFill>
            <a:srgbClr val="FCFCFC"/>
          </a:solidFill>
          <a:ln w="22860">
            <a:solidFill>
              <a:srgbClr val="D6D0D0"/>
            </a:solidFill>
            <a:prstDash val="solid"/>
          </a:ln>
        </p:spPr>
      </p:sp>
      <p:sp>
        <p:nvSpPr>
          <p:cNvPr id="20" name="Shape 18"/>
          <p:cNvSpPr/>
          <p:nvPr/>
        </p:nvSpPr>
        <p:spPr>
          <a:xfrm>
            <a:off x="664131" y="5623798"/>
            <a:ext cx="91440" cy="1725454"/>
          </a:xfrm>
          <a:prstGeom prst="roundRect">
            <a:avLst>
              <a:gd name="adj" fmla="val 32200"/>
            </a:avLst>
          </a:prstGeom>
          <a:solidFill>
            <a:srgbClr val="1D1D1B"/>
          </a:solidFill>
          <a:ln/>
        </p:spPr>
      </p:sp>
      <p:sp>
        <p:nvSpPr>
          <p:cNvPr id="21" name="Text 19"/>
          <p:cNvSpPr/>
          <p:nvPr/>
        </p:nvSpPr>
        <p:spPr>
          <a:xfrm>
            <a:off x="974646" y="5842873"/>
            <a:ext cx="3473291" cy="306705"/>
          </a:xfrm>
          <a:prstGeom prst="rect">
            <a:avLst/>
          </a:prstGeom>
          <a:noFill/>
          <a:ln/>
        </p:spPr>
        <p:txBody>
          <a:bodyPr wrap="none" lIns="0" tIns="0" rIns="0" bIns="0" rtlCol="0" anchor="t"/>
          <a:lstStyle/>
          <a:p>
            <a:pPr marL="0" indent="0" algn="l">
              <a:lnSpc>
                <a:spcPts val="2400"/>
              </a:lnSpc>
              <a:buNone/>
            </a:pPr>
            <a:r>
              <a:rPr lang="en-US" sz="1900" dirty="0">
                <a:solidFill>
                  <a:srgbClr val="61615C"/>
                </a:solidFill>
                <a:latin typeface="Tomorrow Semi Bold" pitchFamily="34" charset="0"/>
                <a:ea typeface="Tomorrow Semi Bold" pitchFamily="34" charset="-122"/>
                <a:cs typeface="Tomorrow Semi Bold" pitchFamily="34" charset="-120"/>
              </a:rPr>
              <a:t>Consistency Assurance Gap</a:t>
            </a:r>
            <a:endParaRPr lang="en-US" sz="1900" dirty="0"/>
          </a:p>
        </p:txBody>
      </p:sp>
      <p:sp>
        <p:nvSpPr>
          <p:cNvPr id="22" name="Text 20"/>
          <p:cNvSpPr/>
          <p:nvPr/>
        </p:nvSpPr>
        <p:spPr>
          <a:xfrm>
            <a:off x="974646" y="6251496"/>
            <a:ext cx="6036588" cy="585788"/>
          </a:xfrm>
          <a:prstGeom prst="rect">
            <a:avLst/>
          </a:prstGeom>
          <a:noFill/>
          <a:ln/>
        </p:spPr>
        <p:txBody>
          <a:bodyPr wrap="square" lIns="0" tIns="0" rIns="0" bIns="0" rtlCol="0" anchor="t"/>
          <a:lstStyle/>
          <a:p>
            <a:pPr marL="0" indent="0" algn="l">
              <a:lnSpc>
                <a:spcPts val="2300"/>
              </a:lnSpc>
              <a:buNone/>
            </a:pPr>
            <a:r>
              <a:rPr lang="en-US" sz="1500" dirty="0">
                <a:solidFill>
                  <a:srgbClr val="61615C"/>
                </a:solidFill>
                <a:latin typeface="Tomorrow" pitchFamily="34" charset="0"/>
                <a:ea typeface="Tomorrow" pitchFamily="34" charset="-122"/>
                <a:cs typeface="Tomorrow" pitchFamily="34" charset="-120"/>
              </a:rPr>
              <a:t>Establish </a:t>
            </a:r>
            <a:r>
              <a:rPr lang="en-US" sz="1500" b="1" dirty="0">
                <a:solidFill>
                  <a:srgbClr val="61615C"/>
                </a:solidFill>
                <a:latin typeface="Tomorrow" pitchFamily="34" charset="0"/>
                <a:ea typeface="Tomorrow" pitchFamily="34" charset="-122"/>
                <a:cs typeface="Tomorrow" pitchFamily="34" charset="-120"/>
              </a:rPr>
              <a:t>triple-pass median evaluation</a:t>
            </a:r>
            <a:r>
              <a:rPr lang="en-US" sz="1500" dirty="0">
                <a:solidFill>
                  <a:srgbClr val="61615C"/>
                </a:solidFill>
                <a:latin typeface="Tomorrow" pitchFamily="34" charset="0"/>
                <a:ea typeface="Tomorrow" pitchFamily="34" charset="-122"/>
                <a:cs typeface="Tomorrow" pitchFamily="34" charset="-120"/>
              </a:rPr>
              <a:t> to eliminate LLM variance by aggregating multiple runs for stable grading.</a:t>
            </a:r>
            <a:endParaRPr lang="en-US" sz="1500" dirty="0"/>
          </a:p>
        </p:txBody>
      </p:sp>
      <p:sp>
        <p:nvSpPr>
          <p:cNvPr id="23" name="Shape 21"/>
          <p:cNvSpPr/>
          <p:nvPr/>
        </p:nvSpPr>
        <p:spPr>
          <a:xfrm>
            <a:off x="7400092" y="5623798"/>
            <a:ext cx="6543318" cy="1725454"/>
          </a:xfrm>
          <a:prstGeom prst="roundRect">
            <a:avLst>
              <a:gd name="adj" fmla="val 6359"/>
            </a:avLst>
          </a:prstGeom>
          <a:solidFill>
            <a:srgbClr val="FCFCFC"/>
          </a:solidFill>
          <a:ln w="22860">
            <a:solidFill>
              <a:srgbClr val="D6D0D0"/>
            </a:solidFill>
            <a:prstDash val="solid"/>
          </a:ln>
        </p:spPr>
      </p:sp>
      <p:sp>
        <p:nvSpPr>
          <p:cNvPr id="24" name="Shape 22"/>
          <p:cNvSpPr/>
          <p:nvPr/>
        </p:nvSpPr>
        <p:spPr>
          <a:xfrm>
            <a:off x="7377232" y="5623798"/>
            <a:ext cx="91440" cy="1725454"/>
          </a:xfrm>
          <a:prstGeom prst="roundRect">
            <a:avLst>
              <a:gd name="adj" fmla="val 32200"/>
            </a:avLst>
          </a:prstGeom>
          <a:solidFill>
            <a:srgbClr val="1D1D1B"/>
          </a:solidFill>
          <a:ln/>
        </p:spPr>
      </p:sp>
      <p:sp>
        <p:nvSpPr>
          <p:cNvPr id="25" name="Text 23"/>
          <p:cNvSpPr/>
          <p:nvPr/>
        </p:nvSpPr>
        <p:spPr>
          <a:xfrm>
            <a:off x="7687747" y="5842873"/>
            <a:ext cx="3181231" cy="306705"/>
          </a:xfrm>
          <a:prstGeom prst="rect">
            <a:avLst/>
          </a:prstGeom>
          <a:noFill/>
          <a:ln/>
        </p:spPr>
        <p:txBody>
          <a:bodyPr wrap="none" lIns="0" tIns="0" rIns="0" bIns="0" rtlCol="0" anchor="t"/>
          <a:lstStyle/>
          <a:p>
            <a:pPr marL="0" indent="0" algn="l">
              <a:lnSpc>
                <a:spcPts val="2400"/>
              </a:lnSpc>
              <a:buNone/>
            </a:pPr>
            <a:r>
              <a:rPr lang="en-US" sz="1900" dirty="0">
                <a:solidFill>
                  <a:srgbClr val="61615C"/>
                </a:solidFill>
                <a:latin typeface="Tomorrow Semi Bold" pitchFamily="34" charset="0"/>
                <a:ea typeface="Tomorrow Semi Bold" pitchFamily="34" charset="-122"/>
                <a:cs typeface="Tomorrow Semi Bold" pitchFamily="34" charset="-120"/>
              </a:rPr>
              <a:t>Feedback Generation Gap</a:t>
            </a:r>
            <a:endParaRPr lang="en-US" sz="1900" dirty="0"/>
          </a:p>
        </p:txBody>
      </p:sp>
      <p:sp>
        <p:nvSpPr>
          <p:cNvPr id="26" name="Text 24"/>
          <p:cNvSpPr/>
          <p:nvPr/>
        </p:nvSpPr>
        <p:spPr>
          <a:xfrm>
            <a:off x="7687747" y="6251496"/>
            <a:ext cx="6036588" cy="878681"/>
          </a:xfrm>
          <a:prstGeom prst="rect">
            <a:avLst/>
          </a:prstGeom>
          <a:noFill/>
          <a:ln/>
        </p:spPr>
        <p:txBody>
          <a:bodyPr wrap="square" lIns="0" tIns="0" rIns="0" bIns="0" rtlCol="0" anchor="t"/>
          <a:lstStyle/>
          <a:p>
            <a:pPr marL="0" indent="0" algn="l">
              <a:lnSpc>
                <a:spcPts val="2300"/>
              </a:lnSpc>
              <a:buNone/>
            </a:pPr>
            <a:r>
              <a:rPr lang="en-US" sz="1500" dirty="0">
                <a:solidFill>
                  <a:srgbClr val="61615C"/>
                </a:solidFill>
                <a:latin typeface="Tomorrow" pitchFamily="34" charset="0"/>
                <a:ea typeface="Tomorrow" pitchFamily="34" charset="-122"/>
                <a:cs typeface="Tomorrow" pitchFamily="34" charset="-120"/>
              </a:rPr>
              <a:t>Build </a:t>
            </a:r>
            <a:r>
              <a:rPr lang="en-US" sz="1500" b="1" dirty="0">
                <a:solidFill>
                  <a:srgbClr val="61615C"/>
                </a:solidFill>
                <a:latin typeface="Tomorrow" pitchFamily="34" charset="0"/>
                <a:ea typeface="Tomorrow" pitchFamily="34" charset="-122"/>
                <a:cs typeface="Tomorrow" pitchFamily="34" charset="-120"/>
              </a:rPr>
              <a:t>intelligent partial credit attribution</a:t>
            </a:r>
            <a:r>
              <a:rPr lang="en-US" sz="1500" dirty="0">
                <a:solidFill>
                  <a:srgbClr val="61615C"/>
                </a:solidFill>
                <a:latin typeface="Tomorrow" pitchFamily="34" charset="0"/>
                <a:ea typeface="Tomorrow" pitchFamily="34" charset="-122"/>
                <a:cs typeface="Tomorrow" pitchFamily="34" charset="-120"/>
              </a:rPr>
              <a:t> that provides granular scoring and detailed error explanations for student feedback.</a:t>
            </a:r>
            <a:endParaRPr lang="en-US" sz="1500" dirty="0"/>
          </a:p>
        </p:txBody>
      </p:sp>
      <p:pic>
        <p:nvPicPr>
          <p:cNvPr id="27" name="Picture 26">
            <a:extLst>
              <a:ext uri="{FF2B5EF4-FFF2-40B4-BE49-F238E27FC236}">
                <a16:creationId xmlns:a16="http://schemas.microsoft.com/office/drawing/2014/main" id="{8EBEE361-FEEF-FD38-96F5-AADD4E4100AB}"/>
              </a:ext>
            </a:extLst>
          </p:cNvPr>
          <p:cNvPicPr>
            <a:picLocks noChangeAspect="1"/>
          </p:cNvPicPr>
          <p:nvPr/>
        </p:nvPicPr>
        <p:blipFill>
          <a:blip r:embed="rId3"/>
          <a:stretch>
            <a:fillRect/>
          </a:stretch>
        </p:blipFill>
        <p:spPr>
          <a:xfrm>
            <a:off x="12094954" y="7676548"/>
            <a:ext cx="2467319" cy="5430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21306"/>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D1D1B"/>
                </a:solidFill>
                <a:latin typeface="Tomorrow Semi Bold" pitchFamily="34" charset="0"/>
                <a:ea typeface="Tomorrow Semi Bold" pitchFamily="34" charset="-122"/>
                <a:cs typeface="Tomorrow Semi Bold" pitchFamily="34" charset="-120"/>
              </a:rPr>
              <a:t>Difference Between Existing and Proposed System</a:t>
            </a:r>
            <a:endParaRPr lang="en-US" sz="4450" dirty="0"/>
          </a:p>
        </p:txBody>
      </p:sp>
      <p:sp>
        <p:nvSpPr>
          <p:cNvPr id="3" name="Text 1"/>
          <p:cNvSpPr/>
          <p:nvPr/>
        </p:nvSpPr>
        <p:spPr>
          <a:xfrm>
            <a:off x="793790" y="290583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D1D1B"/>
                </a:solidFill>
                <a:latin typeface="Tomorrow Semi Bold" pitchFamily="34" charset="0"/>
                <a:ea typeface="Tomorrow Semi Bold" pitchFamily="34" charset="-122"/>
                <a:cs typeface="Tomorrow Semi Bold" pitchFamily="34" charset="-120"/>
              </a:rPr>
              <a:t>Existing Systems</a:t>
            </a:r>
            <a:endParaRPr lang="en-US" sz="2200" dirty="0"/>
          </a:p>
        </p:txBody>
      </p:sp>
      <p:sp>
        <p:nvSpPr>
          <p:cNvPr id="4" name="Text 2"/>
          <p:cNvSpPr/>
          <p:nvPr/>
        </p:nvSpPr>
        <p:spPr>
          <a:xfrm>
            <a:off x="793790" y="3486983"/>
            <a:ext cx="6244709" cy="337899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Blindly delete all crossed-out text</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Use fixed OCR sensitivity for all answers</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Ignore margin content completely</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Single LLM evaluation pass</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No feedback or partial credit</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One-way classification only</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Underlined keywords treated as regular text, no importance weighting</a:t>
            </a:r>
            <a:endParaRPr lang="en-US" sz="1750" dirty="0"/>
          </a:p>
        </p:txBody>
      </p:sp>
      <p:sp>
        <p:nvSpPr>
          <p:cNvPr id="5" name="Text 3"/>
          <p:cNvSpPr/>
          <p:nvPr/>
        </p:nvSpPr>
        <p:spPr>
          <a:xfrm>
            <a:off x="7599521" y="290583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D1D1B"/>
                </a:solidFill>
                <a:latin typeface="Tomorrow Semi Bold" pitchFamily="34" charset="0"/>
                <a:ea typeface="Tomorrow Semi Bold" pitchFamily="34" charset="-122"/>
                <a:cs typeface="Tomorrow Semi Bold" pitchFamily="34" charset="-120"/>
              </a:rPr>
              <a:t>Proposed System</a:t>
            </a:r>
            <a:endParaRPr lang="en-US" sz="2200" dirty="0"/>
          </a:p>
        </p:txBody>
      </p:sp>
      <p:sp>
        <p:nvSpPr>
          <p:cNvPr id="6" name="Text 4"/>
          <p:cNvSpPr/>
          <p:nvPr/>
        </p:nvSpPr>
        <p:spPr>
          <a:xfrm>
            <a:off x="7599521" y="3486983"/>
            <a:ext cx="6244709" cy="3741896"/>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Classify strike-through intent (correction, emphasis, addition)</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Adaptive sensitivity per answer block</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Detect arrows and integrate margin text</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Triple evaluation with median selection</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Explain errors and award partial credit</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Two-way arrow detection (to and from margins)</a:t>
            </a:r>
            <a:endParaRPr lang="en-US" sz="1750" dirty="0"/>
          </a:p>
          <a:p>
            <a:pPr marL="342900" indent="-342900" algn="l">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Detect underlines and weight keywords higher in evaluation</a:t>
            </a:r>
            <a:endParaRPr lang="en-US" sz="1750" dirty="0"/>
          </a:p>
        </p:txBody>
      </p:sp>
      <p:pic>
        <p:nvPicPr>
          <p:cNvPr id="7" name="Picture 6">
            <a:extLst>
              <a:ext uri="{FF2B5EF4-FFF2-40B4-BE49-F238E27FC236}">
                <a16:creationId xmlns:a16="http://schemas.microsoft.com/office/drawing/2014/main" id="{CA4AB627-85A1-711D-E977-4207B4023EFF}"/>
              </a:ext>
            </a:extLst>
          </p:cNvPr>
          <p:cNvPicPr>
            <a:picLocks noChangeAspect="1"/>
          </p:cNvPicPr>
          <p:nvPr/>
        </p:nvPicPr>
        <p:blipFill>
          <a:blip r:embed="rId3"/>
          <a:stretch>
            <a:fillRect/>
          </a:stretch>
        </p:blipFill>
        <p:spPr>
          <a:xfrm>
            <a:off x="12094954" y="7676548"/>
            <a:ext cx="2467319" cy="5430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7829" y="679966"/>
            <a:ext cx="5198864" cy="649843"/>
          </a:xfrm>
          <a:prstGeom prst="rect">
            <a:avLst/>
          </a:prstGeom>
          <a:noFill/>
          <a:ln/>
        </p:spPr>
        <p:txBody>
          <a:bodyPr wrap="none" lIns="0" tIns="0" rIns="0" bIns="0" rtlCol="0" anchor="t"/>
          <a:lstStyle/>
          <a:p>
            <a:pPr marL="0" indent="0" algn="l">
              <a:lnSpc>
                <a:spcPts val="5100"/>
              </a:lnSpc>
              <a:buNone/>
            </a:pPr>
            <a:r>
              <a:rPr lang="en-US" sz="4050" dirty="0">
                <a:solidFill>
                  <a:srgbClr val="1D1D1B"/>
                </a:solidFill>
                <a:latin typeface="Tomorrow Semi Bold" pitchFamily="34" charset="0"/>
                <a:ea typeface="Tomorrow Semi Bold" pitchFamily="34" charset="-122"/>
                <a:cs typeface="Tomorrow Semi Bold" pitchFamily="34" charset="-120"/>
              </a:rPr>
              <a:t>Proposed System</a:t>
            </a:r>
            <a:endParaRPr lang="en-US" sz="4050" dirty="0"/>
          </a:p>
        </p:txBody>
      </p:sp>
      <p:sp>
        <p:nvSpPr>
          <p:cNvPr id="3" name="Text 1"/>
          <p:cNvSpPr/>
          <p:nvPr/>
        </p:nvSpPr>
        <p:spPr>
          <a:xfrm>
            <a:off x="727829" y="1711047"/>
            <a:ext cx="207883" cy="259913"/>
          </a:xfrm>
          <a:prstGeom prst="rect">
            <a:avLst/>
          </a:prstGeom>
          <a:noFill/>
          <a:ln/>
        </p:spPr>
        <p:txBody>
          <a:bodyPr wrap="none" lIns="0" tIns="0" rIns="0" bIns="0" rtlCol="0" anchor="t"/>
          <a:lstStyle/>
          <a:p>
            <a:pPr marL="0" indent="0" algn="l">
              <a:lnSpc>
                <a:spcPts val="2500"/>
              </a:lnSpc>
              <a:buNone/>
            </a:pPr>
            <a:r>
              <a:rPr lang="en-US" sz="1600" dirty="0">
                <a:solidFill>
                  <a:srgbClr val="61615C"/>
                </a:solidFill>
                <a:latin typeface="Tomorrow Light" pitchFamily="34" charset="0"/>
                <a:ea typeface="Tomorrow Light" pitchFamily="34" charset="-122"/>
                <a:cs typeface="Tomorrow Light" pitchFamily="34" charset="-120"/>
              </a:rPr>
              <a:t>01</a:t>
            </a:r>
            <a:endParaRPr lang="en-US" sz="1600" dirty="0"/>
          </a:p>
        </p:txBody>
      </p:sp>
      <p:sp>
        <p:nvSpPr>
          <p:cNvPr id="4" name="Shape 2"/>
          <p:cNvSpPr/>
          <p:nvPr/>
        </p:nvSpPr>
        <p:spPr>
          <a:xfrm>
            <a:off x="727829" y="2041565"/>
            <a:ext cx="6492002" cy="22860"/>
          </a:xfrm>
          <a:prstGeom prst="rect">
            <a:avLst/>
          </a:prstGeom>
          <a:solidFill>
            <a:srgbClr val="1D1D1B"/>
          </a:solidFill>
          <a:ln/>
        </p:spPr>
      </p:sp>
      <p:sp>
        <p:nvSpPr>
          <p:cNvPr id="5" name="Text 3"/>
          <p:cNvSpPr/>
          <p:nvPr/>
        </p:nvSpPr>
        <p:spPr>
          <a:xfrm>
            <a:off x="727829" y="2191226"/>
            <a:ext cx="3349347" cy="324802"/>
          </a:xfrm>
          <a:prstGeom prst="rect">
            <a:avLst/>
          </a:prstGeom>
          <a:noFill/>
          <a:ln/>
        </p:spPr>
        <p:txBody>
          <a:bodyPr wrap="none" lIns="0" tIns="0" rIns="0" bIns="0" rtlCol="0" anchor="t"/>
          <a:lstStyle/>
          <a:p>
            <a:pPr marL="0" indent="0" algn="l">
              <a:lnSpc>
                <a:spcPts val="2550"/>
              </a:lnSpc>
              <a:buNone/>
            </a:pPr>
            <a:r>
              <a:rPr lang="en-US" sz="2000" dirty="0">
                <a:solidFill>
                  <a:srgbClr val="61615C"/>
                </a:solidFill>
                <a:latin typeface="Tomorrow Semi Bold" pitchFamily="34" charset="0"/>
                <a:ea typeface="Tomorrow Semi Bold" pitchFamily="34" charset="-122"/>
                <a:cs typeface="Tomorrow Semi Bold" pitchFamily="34" charset="-120"/>
              </a:rPr>
              <a:t>Document Preprocessing</a:t>
            </a:r>
            <a:endParaRPr lang="en-US" sz="2000" dirty="0"/>
          </a:p>
        </p:txBody>
      </p:sp>
      <p:sp>
        <p:nvSpPr>
          <p:cNvPr id="6" name="Text 4"/>
          <p:cNvSpPr/>
          <p:nvPr/>
        </p:nvSpPr>
        <p:spPr>
          <a:xfrm>
            <a:off x="727829" y="2630329"/>
            <a:ext cx="6492002" cy="637699"/>
          </a:xfrm>
          <a:prstGeom prst="rect">
            <a:avLst/>
          </a:prstGeom>
          <a:noFill/>
          <a:ln/>
        </p:spPr>
        <p:txBody>
          <a:bodyPr wrap="square" lIns="0" tIns="0" rIns="0" bIns="0" rtlCol="0" anchor="t"/>
          <a:lstStyle/>
          <a:p>
            <a:pPr marL="0" indent="0" algn="l">
              <a:lnSpc>
                <a:spcPts val="2500"/>
              </a:lnSpc>
              <a:buNone/>
            </a:pPr>
            <a:r>
              <a:rPr lang="en-US" sz="1600" dirty="0">
                <a:solidFill>
                  <a:srgbClr val="61615C"/>
                </a:solidFill>
                <a:latin typeface="Tomorrow" pitchFamily="34" charset="0"/>
                <a:ea typeface="Tomorrow" pitchFamily="34" charset="-122"/>
                <a:cs typeface="Tomorrow" pitchFamily="34" charset="-120"/>
              </a:rPr>
              <a:t>Scan and segment answer sheets into individual response blocks with quality assessment</a:t>
            </a:r>
            <a:endParaRPr lang="en-US" sz="1600" dirty="0"/>
          </a:p>
        </p:txBody>
      </p:sp>
      <p:sp>
        <p:nvSpPr>
          <p:cNvPr id="7" name="Text 5"/>
          <p:cNvSpPr/>
          <p:nvPr/>
        </p:nvSpPr>
        <p:spPr>
          <a:xfrm>
            <a:off x="7410450" y="1711047"/>
            <a:ext cx="207883" cy="259913"/>
          </a:xfrm>
          <a:prstGeom prst="rect">
            <a:avLst/>
          </a:prstGeom>
          <a:noFill/>
          <a:ln/>
        </p:spPr>
        <p:txBody>
          <a:bodyPr wrap="none" lIns="0" tIns="0" rIns="0" bIns="0" rtlCol="0" anchor="t"/>
          <a:lstStyle/>
          <a:p>
            <a:pPr marL="0" indent="0" algn="l">
              <a:lnSpc>
                <a:spcPts val="2500"/>
              </a:lnSpc>
              <a:buNone/>
            </a:pPr>
            <a:r>
              <a:rPr lang="en-US" sz="1600" dirty="0">
                <a:solidFill>
                  <a:srgbClr val="61615C"/>
                </a:solidFill>
                <a:latin typeface="Tomorrow Light" pitchFamily="34" charset="0"/>
                <a:ea typeface="Tomorrow Light" pitchFamily="34" charset="-122"/>
                <a:cs typeface="Tomorrow Light" pitchFamily="34" charset="-120"/>
              </a:rPr>
              <a:t>02</a:t>
            </a:r>
            <a:endParaRPr lang="en-US" sz="1600" dirty="0"/>
          </a:p>
        </p:txBody>
      </p:sp>
      <p:sp>
        <p:nvSpPr>
          <p:cNvPr id="8" name="Shape 6"/>
          <p:cNvSpPr/>
          <p:nvPr/>
        </p:nvSpPr>
        <p:spPr>
          <a:xfrm>
            <a:off x="7410450" y="2041565"/>
            <a:ext cx="6492121" cy="22860"/>
          </a:xfrm>
          <a:prstGeom prst="rect">
            <a:avLst/>
          </a:prstGeom>
          <a:solidFill>
            <a:srgbClr val="1D1D1B"/>
          </a:solidFill>
          <a:ln/>
        </p:spPr>
      </p:sp>
      <p:sp>
        <p:nvSpPr>
          <p:cNvPr id="9" name="Text 7"/>
          <p:cNvSpPr/>
          <p:nvPr/>
        </p:nvSpPr>
        <p:spPr>
          <a:xfrm>
            <a:off x="7410450" y="2191226"/>
            <a:ext cx="3856911" cy="324802"/>
          </a:xfrm>
          <a:prstGeom prst="rect">
            <a:avLst/>
          </a:prstGeom>
          <a:noFill/>
          <a:ln/>
        </p:spPr>
        <p:txBody>
          <a:bodyPr wrap="none" lIns="0" tIns="0" rIns="0" bIns="0" rtlCol="0" anchor="t"/>
          <a:lstStyle/>
          <a:p>
            <a:pPr marL="0" indent="0" algn="l">
              <a:lnSpc>
                <a:spcPts val="2550"/>
              </a:lnSpc>
              <a:buNone/>
            </a:pPr>
            <a:r>
              <a:rPr lang="en-US" sz="2000" dirty="0">
                <a:solidFill>
                  <a:srgbClr val="61615C"/>
                </a:solidFill>
                <a:latin typeface="Tomorrow Semi Bold" pitchFamily="34" charset="0"/>
                <a:ea typeface="Tomorrow Semi Bold" pitchFamily="34" charset="-122"/>
                <a:cs typeface="Tomorrow Semi Bold" pitchFamily="34" charset="-120"/>
              </a:rPr>
              <a:t>Underline Keyword Detection</a:t>
            </a:r>
            <a:endParaRPr lang="en-US" sz="2000" dirty="0"/>
          </a:p>
        </p:txBody>
      </p:sp>
      <p:sp>
        <p:nvSpPr>
          <p:cNvPr id="10" name="Text 8"/>
          <p:cNvSpPr/>
          <p:nvPr/>
        </p:nvSpPr>
        <p:spPr>
          <a:xfrm>
            <a:off x="7410450" y="2630329"/>
            <a:ext cx="6492121" cy="637699"/>
          </a:xfrm>
          <a:prstGeom prst="rect">
            <a:avLst/>
          </a:prstGeom>
          <a:noFill/>
          <a:ln/>
        </p:spPr>
        <p:txBody>
          <a:bodyPr wrap="square" lIns="0" tIns="0" rIns="0" bIns="0" rtlCol="0" anchor="t"/>
          <a:lstStyle/>
          <a:p>
            <a:pPr marL="0" indent="0" algn="l">
              <a:lnSpc>
                <a:spcPts val="2500"/>
              </a:lnSpc>
              <a:buNone/>
            </a:pPr>
            <a:r>
              <a:rPr lang="en-US" sz="1600" dirty="0">
                <a:solidFill>
                  <a:srgbClr val="61615C"/>
                </a:solidFill>
                <a:latin typeface="Tomorrow" pitchFamily="34" charset="0"/>
                <a:ea typeface="Tomorrow" pitchFamily="34" charset="-122"/>
                <a:cs typeface="Tomorrow" pitchFamily="34" charset="-120"/>
              </a:rPr>
              <a:t>Identify and extract underlined text as important keywords, marking them for higher weight in evaluation</a:t>
            </a:r>
            <a:endParaRPr lang="en-US" sz="1600" dirty="0"/>
          </a:p>
        </p:txBody>
      </p:sp>
      <p:sp>
        <p:nvSpPr>
          <p:cNvPr id="11" name="Text 9"/>
          <p:cNvSpPr/>
          <p:nvPr/>
        </p:nvSpPr>
        <p:spPr>
          <a:xfrm>
            <a:off x="727829" y="3614499"/>
            <a:ext cx="207883" cy="259913"/>
          </a:xfrm>
          <a:prstGeom prst="rect">
            <a:avLst/>
          </a:prstGeom>
          <a:noFill/>
          <a:ln/>
        </p:spPr>
        <p:txBody>
          <a:bodyPr wrap="none" lIns="0" tIns="0" rIns="0" bIns="0" rtlCol="0" anchor="t"/>
          <a:lstStyle/>
          <a:p>
            <a:pPr marL="0" indent="0" algn="l">
              <a:lnSpc>
                <a:spcPts val="2500"/>
              </a:lnSpc>
              <a:buNone/>
            </a:pPr>
            <a:r>
              <a:rPr lang="en-US" sz="1600" dirty="0">
                <a:solidFill>
                  <a:srgbClr val="61615C"/>
                </a:solidFill>
                <a:latin typeface="Tomorrow Light" pitchFamily="34" charset="0"/>
                <a:ea typeface="Tomorrow Light" pitchFamily="34" charset="-122"/>
                <a:cs typeface="Tomorrow Light" pitchFamily="34" charset="-120"/>
              </a:rPr>
              <a:t>03</a:t>
            </a:r>
            <a:endParaRPr lang="en-US" sz="1600" dirty="0"/>
          </a:p>
        </p:txBody>
      </p:sp>
      <p:sp>
        <p:nvSpPr>
          <p:cNvPr id="12" name="Shape 10"/>
          <p:cNvSpPr/>
          <p:nvPr/>
        </p:nvSpPr>
        <p:spPr>
          <a:xfrm>
            <a:off x="727829" y="3945017"/>
            <a:ext cx="6492002" cy="22860"/>
          </a:xfrm>
          <a:prstGeom prst="rect">
            <a:avLst/>
          </a:prstGeom>
          <a:solidFill>
            <a:srgbClr val="1D1D1B"/>
          </a:solidFill>
          <a:ln/>
        </p:spPr>
      </p:sp>
      <p:sp>
        <p:nvSpPr>
          <p:cNvPr id="13" name="Text 11"/>
          <p:cNvSpPr/>
          <p:nvPr/>
        </p:nvSpPr>
        <p:spPr>
          <a:xfrm>
            <a:off x="727829" y="4094678"/>
            <a:ext cx="3340418" cy="324802"/>
          </a:xfrm>
          <a:prstGeom prst="rect">
            <a:avLst/>
          </a:prstGeom>
          <a:noFill/>
          <a:ln/>
        </p:spPr>
        <p:txBody>
          <a:bodyPr wrap="none" lIns="0" tIns="0" rIns="0" bIns="0" rtlCol="0" anchor="t"/>
          <a:lstStyle/>
          <a:p>
            <a:pPr marL="0" indent="0" algn="l">
              <a:lnSpc>
                <a:spcPts val="2550"/>
              </a:lnSpc>
              <a:buNone/>
            </a:pPr>
            <a:r>
              <a:rPr lang="en-US" sz="2000" dirty="0">
                <a:solidFill>
                  <a:srgbClr val="61615C"/>
                </a:solidFill>
                <a:latin typeface="Tomorrow Semi Bold" pitchFamily="34" charset="0"/>
                <a:ea typeface="Tomorrow Semi Bold" pitchFamily="34" charset="-122"/>
                <a:cs typeface="Tomorrow Semi Bold" pitchFamily="34" charset="-120"/>
              </a:rPr>
              <a:t>Adaptive VLM Processing</a:t>
            </a:r>
            <a:endParaRPr lang="en-US" sz="2000" dirty="0"/>
          </a:p>
        </p:txBody>
      </p:sp>
      <p:sp>
        <p:nvSpPr>
          <p:cNvPr id="14" name="Text 12"/>
          <p:cNvSpPr/>
          <p:nvPr/>
        </p:nvSpPr>
        <p:spPr>
          <a:xfrm>
            <a:off x="727829" y="4533781"/>
            <a:ext cx="6492002" cy="956548"/>
          </a:xfrm>
          <a:prstGeom prst="rect">
            <a:avLst/>
          </a:prstGeom>
          <a:noFill/>
          <a:ln/>
        </p:spPr>
        <p:txBody>
          <a:bodyPr wrap="square" lIns="0" tIns="0" rIns="0" bIns="0" rtlCol="0" anchor="t"/>
          <a:lstStyle/>
          <a:p>
            <a:pPr marL="0" indent="0" algn="l">
              <a:lnSpc>
                <a:spcPts val="2500"/>
              </a:lnSpc>
              <a:buNone/>
            </a:pPr>
            <a:r>
              <a:rPr lang="en-US" sz="1600" dirty="0">
                <a:solidFill>
                  <a:srgbClr val="61615C"/>
                </a:solidFill>
                <a:latin typeface="Tomorrow" pitchFamily="34" charset="0"/>
                <a:ea typeface="Tomorrow" pitchFamily="34" charset="-122"/>
                <a:cs typeface="Tomorrow" pitchFamily="34" charset="-120"/>
              </a:rPr>
              <a:t>Use VLM for accuracy on complex handwriting, OCR for speed and cost-effective bulk processing, with sensitivity adjusted based on handwriting neatness</a:t>
            </a:r>
            <a:endParaRPr lang="en-US" sz="1600" dirty="0"/>
          </a:p>
        </p:txBody>
      </p:sp>
      <p:sp>
        <p:nvSpPr>
          <p:cNvPr id="15" name="Text 13"/>
          <p:cNvSpPr/>
          <p:nvPr/>
        </p:nvSpPr>
        <p:spPr>
          <a:xfrm>
            <a:off x="7410450" y="3614499"/>
            <a:ext cx="207883" cy="259913"/>
          </a:xfrm>
          <a:prstGeom prst="rect">
            <a:avLst/>
          </a:prstGeom>
          <a:noFill/>
          <a:ln/>
        </p:spPr>
        <p:txBody>
          <a:bodyPr wrap="none" lIns="0" tIns="0" rIns="0" bIns="0" rtlCol="0" anchor="t"/>
          <a:lstStyle/>
          <a:p>
            <a:pPr marL="0" indent="0" algn="l">
              <a:lnSpc>
                <a:spcPts val="2500"/>
              </a:lnSpc>
              <a:buNone/>
            </a:pPr>
            <a:r>
              <a:rPr lang="en-US" sz="1600" dirty="0">
                <a:solidFill>
                  <a:srgbClr val="61615C"/>
                </a:solidFill>
                <a:latin typeface="Tomorrow Light" pitchFamily="34" charset="0"/>
                <a:ea typeface="Tomorrow Light" pitchFamily="34" charset="-122"/>
                <a:cs typeface="Tomorrow Light" pitchFamily="34" charset="-120"/>
              </a:rPr>
              <a:t>04</a:t>
            </a:r>
            <a:endParaRPr lang="en-US" sz="1600" dirty="0"/>
          </a:p>
        </p:txBody>
      </p:sp>
      <p:sp>
        <p:nvSpPr>
          <p:cNvPr id="16" name="Shape 14"/>
          <p:cNvSpPr/>
          <p:nvPr/>
        </p:nvSpPr>
        <p:spPr>
          <a:xfrm>
            <a:off x="7410450" y="3945017"/>
            <a:ext cx="6492121" cy="22860"/>
          </a:xfrm>
          <a:prstGeom prst="rect">
            <a:avLst/>
          </a:prstGeom>
          <a:solidFill>
            <a:srgbClr val="1D1D1B"/>
          </a:solidFill>
          <a:ln/>
        </p:spPr>
      </p:sp>
      <p:sp>
        <p:nvSpPr>
          <p:cNvPr id="17" name="Text 15"/>
          <p:cNvSpPr/>
          <p:nvPr/>
        </p:nvSpPr>
        <p:spPr>
          <a:xfrm>
            <a:off x="7410450" y="4094678"/>
            <a:ext cx="3832741" cy="324802"/>
          </a:xfrm>
          <a:prstGeom prst="rect">
            <a:avLst/>
          </a:prstGeom>
          <a:noFill/>
          <a:ln/>
        </p:spPr>
        <p:txBody>
          <a:bodyPr wrap="none" lIns="0" tIns="0" rIns="0" bIns="0" rtlCol="0" anchor="t"/>
          <a:lstStyle/>
          <a:p>
            <a:pPr marL="0" indent="0" algn="l">
              <a:lnSpc>
                <a:spcPts val="2550"/>
              </a:lnSpc>
              <a:buNone/>
            </a:pPr>
            <a:r>
              <a:rPr lang="en-US" sz="2000" dirty="0">
                <a:solidFill>
                  <a:srgbClr val="61615C"/>
                </a:solidFill>
                <a:latin typeface="Tomorrow Semi Bold" pitchFamily="34" charset="0"/>
                <a:ea typeface="Tomorrow Semi Bold" pitchFamily="34" charset="-122"/>
                <a:cs typeface="Tomorrow Semi Bold" pitchFamily="34" charset="-120"/>
              </a:rPr>
              <a:t>Strike-Through Classification</a:t>
            </a:r>
            <a:endParaRPr lang="en-US" sz="2000" dirty="0"/>
          </a:p>
        </p:txBody>
      </p:sp>
      <p:sp>
        <p:nvSpPr>
          <p:cNvPr id="18" name="Text 16"/>
          <p:cNvSpPr/>
          <p:nvPr/>
        </p:nvSpPr>
        <p:spPr>
          <a:xfrm>
            <a:off x="7410450" y="4533781"/>
            <a:ext cx="6492121" cy="637699"/>
          </a:xfrm>
          <a:prstGeom prst="rect">
            <a:avLst/>
          </a:prstGeom>
          <a:noFill/>
          <a:ln/>
        </p:spPr>
        <p:txBody>
          <a:bodyPr wrap="square" lIns="0" tIns="0" rIns="0" bIns="0" rtlCol="0" anchor="t"/>
          <a:lstStyle/>
          <a:p>
            <a:pPr marL="0" indent="0" algn="l">
              <a:lnSpc>
                <a:spcPts val="2500"/>
              </a:lnSpc>
              <a:buNone/>
            </a:pPr>
            <a:r>
              <a:rPr lang="en-US" sz="1600" dirty="0">
                <a:solidFill>
                  <a:srgbClr val="61615C"/>
                </a:solidFill>
                <a:latin typeface="Tomorrow" pitchFamily="34" charset="0"/>
                <a:ea typeface="Tomorrow" pitchFamily="34" charset="-122"/>
                <a:cs typeface="Tomorrow" pitchFamily="34" charset="-120"/>
              </a:rPr>
              <a:t>Detect crossing patterns and classify intent: correction (ignore), emphasis (highlight), or addition (include)</a:t>
            </a:r>
            <a:endParaRPr lang="en-US" sz="1600" dirty="0"/>
          </a:p>
        </p:txBody>
      </p:sp>
      <p:sp>
        <p:nvSpPr>
          <p:cNvPr id="19" name="Text 17"/>
          <p:cNvSpPr/>
          <p:nvPr/>
        </p:nvSpPr>
        <p:spPr>
          <a:xfrm>
            <a:off x="727829" y="5836801"/>
            <a:ext cx="207883" cy="259913"/>
          </a:xfrm>
          <a:prstGeom prst="rect">
            <a:avLst/>
          </a:prstGeom>
          <a:noFill/>
          <a:ln/>
        </p:spPr>
        <p:txBody>
          <a:bodyPr wrap="none" lIns="0" tIns="0" rIns="0" bIns="0" rtlCol="0" anchor="t"/>
          <a:lstStyle/>
          <a:p>
            <a:pPr marL="0" indent="0" algn="l">
              <a:lnSpc>
                <a:spcPts val="2500"/>
              </a:lnSpc>
              <a:buNone/>
            </a:pPr>
            <a:r>
              <a:rPr lang="en-US" sz="1600" dirty="0">
                <a:solidFill>
                  <a:srgbClr val="61615C"/>
                </a:solidFill>
                <a:latin typeface="Tomorrow Light" pitchFamily="34" charset="0"/>
                <a:ea typeface="Tomorrow Light" pitchFamily="34" charset="-122"/>
                <a:cs typeface="Tomorrow Light" pitchFamily="34" charset="-120"/>
              </a:rPr>
              <a:t>05</a:t>
            </a:r>
            <a:endParaRPr lang="en-US" sz="1600" dirty="0"/>
          </a:p>
        </p:txBody>
      </p:sp>
      <p:sp>
        <p:nvSpPr>
          <p:cNvPr id="20" name="Shape 18"/>
          <p:cNvSpPr/>
          <p:nvPr/>
        </p:nvSpPr>
        <p:spPr>
          <a:xfrm>
            <a:off x="727829" y="6167318"/>
            <a:ext cx="6492002" cy="22860"/>
          </a:xfrm>
          <a:prstGeom prst="rect">
            <a:avLst/>
          </a:prstGeom>
          <a:solidFill>
            <a:srgbClr val="1D1D1B"/>
          </a:solidFill>
          <a:ln/>
        </p:spPr>
      </p:sp>
      <p:sp>
        <p:nvSpPr>
          <p:cNvPr id="21" name="Text 19"/>
          <p:cNvSpPr/>
          <p:nvPr/>
        </p:nvSpPr>
        <p:spPr>
          <a:xfrm>
            <a:off x="727829" y="6316980"/>
            <a:ext cx="2599372" cy="324802"/>
          </a:xfrm>
          <a:prstGeom prst="rect">
            <a:avLst/>
          </a:prstGeom>
          <a:noFill/>
          <a:ln/>
        </p:spPr>
        <p:txBody>
          <a:bodyPr wrap="none" lIns="0" tIns="0" rIns="0" bIns="0" rtlCol="0" anchor="t"/>
          <a:lstStyle/>
          <a:p>
            <a:pPr marL="0" indent="0" algn="l">
              <a:lnSpc>
                <a:spcPts val="2550"/>
              </a:lnSpc>
              <a:buNone/>
            </a:pPr>
            <a:r>
              <a:rPr lang="en-US" sz="2000" dirty="0">
                <a:solidFill>
                  <a:srgbClr val="61615C"/>
                </a:solidFill>
                <a:latin typeface="Tomorrow Semi Bold" pitchFamily="34" charset="0"/>
                <a:ea typeface="Tomorrow Semi Bold" pitchFamily="34" charset="-122"/>
                <a:cs typeface="Tomorrow Semi Bold" pitchFamily="34" charset="-120"/>
              </a:rPr>
              <a:t>Margin Integration</a:t>
            </a:r>
            <a:endParaRPr lang="en-US" sz="2000" dirty="0"/>
          </a:p>
        </p:txBody>
      </p:sp>
      <p:sp>
        <p:nvSpPr>
          <p:cNvPr id="22" name="Text 20"/>
          <p:cNvSpPr/>
          <p:nvPr/>
        </p:nvSpPr>
        <p:spPr>
          <a:xfrm>
            <a:off x="727829" y="6756083"/>
            <a:ext cx="6492002" cy="637699"/>
          </a:xfrm>
          <a:prstGeom prst="rect">
            <a:avLst/>
          </a:prstGeom>
          <a:noFill/>
          <a:ln/>
        </p:spPr>
        <p:txBody>
          <a:bodyPr wrap="square" lIns="0" tIns="0" rIns="0" bIns="0" rtlCol="0" anchor="t"/>
          <a:lstStyle/>
          <a:p>
            <a:pPr marL="0" indent="0" algn="l">
              <a:lnSpc>
                <a:spcPts val="2500"/>
              </a:lnSpc>
              <a:buNone/>
            </a:pPr>
            <a:r>
              <a:rPr lang="en-US" sz="1600" dirty="0">
                <a:solidFill>
                  <a:srgbClr val="61615C"/>
                </a:solidFill>
                <a:latin typeface="Tomorrow" pitchFamily="34" charset="0"/>
                <a:ea typeface="Tomorrow" pitchFamily="34" charset="-122"/>
                <a:cs typeface="Tomorrow" pitchFamily="34" charset="-120"/>
              </a:rPr>
              <a:t>Find arrows pointing to margin text and stitch content back into logical answer position</a:t>
            </a:r>
            <a:endParaRPr lang="en-US" sz="1600" dirty="0"/>
          </a:p>
        </p:txBody>
      </p:sp>
      <p:sp>
        <p:nvSpPr>
          <p:cNvPr id="23" name="Text 21"/>
          <p:cNvSpPr/>
          <p:nvPr/>
        </p:nvSpPr>
        <p:spPr>
          <a:xfrm>
            <a:off x="7410450" y="5836801"/>
            <a:ext cx="207883" cy="259913"/>
          </a:xfrm>
          <a:prstGeom prst="rect">
            <a:avLst/>
          </a:prstGeom>
          <a:noFill/>
          <a:ln/>
        </p:spPr>
        <p:txBody>
          <a:bodyPr wrap="none" lIns="0" tIns="0" rIns="0" bIns="0" rtlCol="0" anchor="t"/>
          <a:lstStyle/>
          <a:p>
            <a:pPr marL="0" indent="0" algn="l">
              <a:lnSpc>
                <a:spcPts val="2500"/>
              </a:lnSpc>
              <a:buNone/>
            </a:pPr>
            <a:r>
              <a:rPr lang="en-US" sz="1600" dirty="0">
                <a:solidFill>
                  <a:srgbClr val="61615C"/>
                </a:solidFill>
                <a:latin typeface="Tomorrow Light" pitchFamily="34" charset="0"/>
                <a:ea typeface="Tomorrow Light" pitchFamily="34" charset="-122"/>
                <a:cs typeface="Tomorrow Light" pitchFamily="34" charset="-120"/>
              </a:rPr>
              <a:t>06</a:t>
            </a:r>
            <a:endParaRPr lang="en-US" sz="1600" dirty="0"/>
          </a:p>
        </p:txBody>
      </p:sp>
      <p:sp>
        <p:nvSpPr>
          <p:cNvPr id="24" name="Shape 22"/>
          <p:cNvSpPr/>
          <p:nvPr/>
        </p:nvSpPr>
        <p:spPr>
          <a:xfrm>
            <a:off x="7410450" y="6167318"/>
            <a:ext cx="6492121" cy="22860"/>
          </a:xfrm>
          <a:prstGeom prst="rect">
            <a:avLst/>
          </a:prstGeom>
          <a:solidFill>
            <a:srgbClr val="1D1D1B"/>
          </a:solidFill>
          <a:ln/>
        </p:spPr>
      </p:sp>
      <p:sp>
        <p:nvSpPr>
          <p:cNvPr id="25" name="Text 23"/>
          <p:cNvSpPr/>
          <p:nvPr/>
        </p:nvSpPr>
        <p:spPr>
          <a:xfrm>
            <a:off x="7410450" y="6316980"/>
            <a:ext cx="2784277" cy="324802"/>
          </a:xfrm>
          <a:prstGeom prst="rect">
            <a:avLst/>
          </a:prstGeom>
          <a:noFill/>
          <a:ln/>
        </p:spPr>
        <p:txBody>
          <a:bodyPr wrap="none" lIns="0" tIns="0" rIns="0" bIns="0" rtlCol="0" anchor="t"/>
          <a:lstStyle/>
          <a:p>
            <a:pPr marL="0" indent="0" algn="l">
              <a:lnSpc>
                <a:spcPts val="2550"/>
              </a:lnSpc>
              <a:buNone/>
            </a:pPr>
            <a:r>
              <a:rPr lang="en-US" sz="2000" dirty="0">
                <a:solidFill>
                  <a:srgbClr val="61615C"/>
                </a:solidFill>
                <a:latin typeface="Tomorrow Semi Bold" pitchFamily="34" charset="0"/>
                <a:ea typeface="Tomorrow Semi Bold" pitchFamily="34" charset="-122"/>
                <a:cs typeface="Tomorrow Semi Bold" pitchFamily="34" charset="-120"/>
              </a:rPr>
              <a:t>Triple LLM Evaluation</a:t>
            </a:r>
            <a:endParaRPr lang="en-US" sz="2000" dirty="0"/>
          </a:p>
        </p:txBody>
      </p:sp>
      <p:sp>
        <p:nvSpPr>
          <p:cNvPr id="26" name="Text 24"/>
          <p:cNvSpPr/>
          <p:nvPr/>
        </p:nvSpPr>
        <p:spPr>
          <a:xfrm>
            <a:off x="7410450" y="6756083"/>
            <a:ext cx="6492121" cy="637699"/>
          </a:xfrm>
          <a:prstGeom prst="rect">
            <a:avLst/>
          </a:prstGeom>
          <a:noFill/>
          <a:ln/>
        </p:spPr>
        <p:txBody>
          <a:bodyPr wrap="square" lIns="0" tIns="0" rIns="0" bIns="0" rtlCol="0" anchor="t"/>
          <a:lstStyle/>
          <a:p>
            <a:pPr marL="0" indent="0" algn="l">
              <a:lnSpc>
                <a:spcPts val="2500"/>
              </a:lnSpc>
              <a:buNone/>
            </a:pPr>
            <a:r>
              <a:rPr lang="en-US" sz="1600" dirty="0">
                <a:solidFill>
                  <a:srgbClr val="61615C"/>
                </a:solidFill>
                <a:latin typeface="Tomorrow" pitchFamily="34" charset="0"/>
                <a:ea typeface="Tomorrow" pitchFamily="34" charset="-122"/>
                <a:cs typeface="Tomorrow" pitchFamily="34" charset="-120"/>
              </a:rPr>
              <a:t>Run three separate evaluations, take median score to eliminate inconsistency</a:t>
            </a:r>
            <a:endParaRPr lang="en-US" sz="1600" dirty="0"/>
          </a:p>
        </p:txBody>
      </p:sp>
      <p:pic>
        <p:nvPicPr>
          <p:cNvPr id="27" name="Picture 26">
            <a:extLst>
              <a:ext uri="{FF2B5EF4-FFF2-40B4-BE49-F238E27FC236}">
                <a16:creationId xmlns:a16="http://schemas.microsoft.com/office/drawing/2014/main" id="{54A36232-024D-8031-75FD-5922EA182620}"/>
              </a:ext>
            </a:extLst>
          </p:cNvPr>
          <p:cNvPicPr>
            <a:picLocks noChangeAspect="1"/>
          </p:cNvPicPr>
          <p:nvPr/>
        </p:nvPicPr>
        <p:blipFill>
          <a:blip r:embed="rId3"/>
          <a:stretch>
            <a:fillRect/>
          </a:stretch>
        </p:blipFill>
        <p:spPr>
          <a:xfrm>
            <a:off x="12094954" y="7676548"/>
            <a:ext cx="2467319" cy="5430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286947" y="1288137"/>
            <a:ext cx="4520089" cy="546021"/>
          </a:xfrm>
          <a:prstGeom prst="rect">
            <a:avLst/>
          </a:prstGeom>
          <a:noFill/>
          <a:ln/>
        </p:spPr>
        <p:txBody>
          <a:bodyPr wrap="none" lIns="0" tIns="0" rIns="0" bIns="0" rtlCol="0" anchor="t"/>
          <a:lstStyle/>
          <a:p>
            <a:pPr marL="0" indent="0" algn="l">
              <a:lnSpc>
                <a:spcPts val="4250"/>
              </a:lnSpc>
              <a:buNone/>
            </a:pPr>
            <a:r>
              <a:rPr lang="en-US" sz="3400" dirty="0">
                <a:solidFill>
                  <a:srgbClr val="1D1D1B"/>
                </a:solidFill>
                <a:latin typeface="Tomorrow Semi Bold" pitchFamily="34" charset="0"/>
                <a:ea typeface="Tomorrow Semi Bold" pitchFamily="34" charset="-122"/>
                <a:cs typeface="Tomorrow Semi Bold" pitchFamily="34" charset="-120"/>
              </a:rPr>
              <a:t>Research Objectives</a:t>
            </a:r>
            <a:endParaRPr lang="en-US" sz="3400" dirty="0"/>
          </a:p>
        </p:txBody>
      </p:sp>
      <p:sp>
        <p:nvSpPr>
          <p:cNvPr id="3" name="Shape 1"/>
          <p:cNvSpPr/>
          <p:nvPr/>
        </p:nvSpPr>
        <p:spPr>
          <a:xfrm>
            <a:off x="1286947" y="2103358"/>
            <a:ext cx="3929063" cy="2351723"/>
          </a:xfrm>
          <a:prstGeom prst="roundRect">
            <a:avLst>
              <a:gd name="adj" fmla="val 1114"/>
            </a:avLst>
          </a:prstGeom>
          <a:solidFill>
            <a:srgbClr val="F0EAEA"/>
          </a:solidFill>
          <a:ln/>
        </p:spPr>
      </p:sp>
      <p:sp>
        <p:nvSpPr>
          <p:cNvPr id="4" name="Shape 2"/>
          <p:cNvSpPr/>
          <p:nvPr/>
        </p:nvSpPr>
        <p:spPr>
          <a:xfrm>
            <a:off x="1461611" y="2278023"/>
            <a:ext cx="524113" cy="524113"/>
          </a:xfrm>
          <a:prstGeom prst="roundRect">
            <a:avLst>
              <a:gd name="adj" fmla="val 17444875"/>
            </a:avLst>
          </a:prstGeom>
          <a:solidFill>
            <a:srgbClr val="1D1D1B"/>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5677" y="2422088"/>
            <a:ext cx="235863" cy="235863"/>
          </a:xfrm>
          <a:prstGeom prst="rect">
            <a:avLst/>
          </a:prstGeom>
        </p:spPr>
      </p:pic>
      <p:sp>
        <p:nvSpPr>
          <p:cNvPr id="6" name="Text 3"/>
          <p:cNvSpPr/>
          <p:nvPr/>
        </p:nvSpPr>
        <p:spPr>
          <a:xfrm>
            <a:off x="1461611" y="2936677"/>
            <a:ext cx="3240286" cy="272891"/>
          </a:xfrm>
          <a:prstGeom prst="rect">
            <a:avLst/>
          </a:prstGeom>
          <a:noFill/>
          <a:ln/>
        </p:spPr>
        <p:txBody>
          <a:bodyPr wrap="none" lIns="0" tIns="0" rIns="0" bIns="0" rtlCol="0" anchor="t"/>
          <a:lstStyle/>
          <a:p>
            <a:pPr marL="0" indent="0" algn="l">
              <a:lnSpc>
                <a:spcPts val="2100"/>
              </a:lnSpc>
              <a:buNone/>
            </a:pPr>
            <a:r>
              <a:rPr lang="en-US" sz="1700" dirty="0">
                <a:solidFill>
                  <a:srgbClr val="61615C"/>
                </a:solidFill>
                <a:latin typeface="Tomorrow Semi Bold" pitchFamily="34" charset="0"/>
                <a:ea typeface="Tomorrow Semi Bold" pitchFamily="34" charset="-122"/>
                <a:cs typeface="Tomorrow Semi Bold" pitchFamily="34" charset="-120"/>
              </a:rPr>
              <a:t>Underline Keyword Detection</a:t>
            </a:r>
            <a:endParaRPr lang="en-US" sz="1700" dirty="0"/>
          </a:p>
        </p:txBody>
      </p:sp>
      <p:sp>
        <p:nvSpPr>
          <p:cNvPr id="7" name="Text 4"/>
          <p:cNvSpPr/>
          <p:nvPr/>
        </p:nvSpPr>
        <p:spPr>
          <a:xfrm>
            <a:off x="1461611" y="3290292"/>
            <a:ext cx="3579733" cy="990124"/>
          </a:xfrm>
          <a:prstGeom prst="rect">
            <a:avLst/>
          </a:prstGeom>
          <a:noFill/>
          <a:ln/>
        </p:spPr>
        <p:txBody>
          <a:bodyPr wrap="square" lIns="0" tIns="0" rIns="0" bIns="0" rtlCol="0" anchor="t"/>
          <a:lstStyle/>
          <a:p>
            <a:pPr marL="0" indent="0" algn="l">
              <a:lnSpc>
                <a:spcPts val="1900"/>
              </a:lnSpc>
              <a:buNone/>
            </a:pPr>
            <a:r>
              <a:rPr lang="en-US" sz="1350" dirty="0">
                <a:solidFill>
                  <a:srgbClr val="61615C"/>
                </a:solidFill>
                <a:latin typeface="Tomorrow" pitchFamily="34" charset="0"/>
                <a:ea typeface="Tomorrow" pitchFamily="34" charset="-122"/>
                <a:cs typeface="Tomorrow" pitchFamily="34" charset="-120"/>
              </a:rPr>
              <a:t>Develop </a:t>
            </a:r>
            <a:r>
              <a:rPr lang="en-US" sz="1350" b="1" dirty="0">
                <a:solidFill>
                  <a:srgbClr val="61615C"/>
                </a:solidFill>
                <a:latin typeface="Tomorrow" pitchFamily="34" charset="0"/>
                <a:ea typeface="Tomorrow" pitchFamily="34" charset="-122"/>
                <a:cs typeface="Tomorrow" pitchFamily="34" charset="-120"/>
              </a:rPr>
              <a:t>underline pattern recognition</a:t>
            </a:r>
            <a:r>
              <a:rPr lang="en-US" sz="1350" dirty="0">
                <a:solidFill>
                  <a:srgbClr val="61615C"/>
                </a:solidFill>
                <a:latin typeface="Tomorrow" pitchFamily="34" charset="0"/>
                <a:ea typeface="Tomorrow" pitchFamily="34" charset="-122"/>
                <a:cs typeface="Tomorrow" pitchFamily="34" charset="-120"/>
              </a:rPr>
              <a:t> that automatically identifies and extracts underlined text as important keywords in student answers for weighted evaluation</a:t>
            </a:r>
            <a:endParaRPr lang="en-US" sz="1350" dirty="0"/>
          </a:p>
        </p:txBody>
      </p:sp>
      <p:sp>
        <p:nvSpPr>
          <p:cNvPr id="8" name="Shape 5"/>
          <p:cNvSpPr/>
          <p:nvPr/>
        </p:nvSpPr>
        <p:spPr>
          <a:xfrm>
            <a:off x="5350550" y="2103358"/>
            <a:ext cx="3929063" cy="2351723"/>
          </a:xfrm>
          <a:prstGeom prst="roundRect">
            <a:avLst>
              <a:gd name="adj" fmla="val 1114"/>
            </a:avLst>
          </a:prstGeom>
          <a:solidFill>
            <a:srgbClr val="F0EAEA"/>
          </a:solidFill>
          <a:ln/>
        </p:spPr>
      </p:sp>
      <p:sp>
        <p:nvSpPr>
          <p:cNvPr id="9" name="Shape 6"/>
          <p:cNvSpPr/>
          <p:nvPr/>
        </p:nvSpPr>
        <p:spPr>
          <a:xfrm>
            <a:off x="5525214" y="2278023"/>
            <a:ext cx="524113" cy="524113"/>
          </a:xfrm>
          <a:prstGeom prst="roundRect">
            <a:avLst>
              <a:gd name="adj" fmla="val 17444875"/>
            </a:avLst>
          </a:prstGeom>
          <a:solidFill>
            <a:srgbClr val="1D1D1B"/>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69280" y="2422088"/>
            <a:ext cx="235863" cy="235863"/>
          </a:xfrm>
          <a:prstGeom prst="rect">
            <a:avLst/>
          </a:prstGeom>
        </p:spPr>
      </p:pic>
      <p:sp>
        <p:nvSpPr>
          <p:cNvPr id="11" name="Text 7"/>
          <p:cNvSpPr/>
          <p:nvPr/>
        </p:nvSpPr>
        <p:spPr>
          <a:xfrm>
            <a:off x="5525214" y="2936677"/>
            <a:ext cx="2210753" cy="272891"/>
          </a:xfrm>
          <a:prstGeom prst="rect">
            <a:avLst/>
          </a:prstGeom>
          <a:noFill/>
          <a:ln/>
        </p:spPr>
        <p:txBody>
          <a:bodyPr wrap="none" lIns="0" tIns="0" rIns="0" bIns="0" rtlCol="0" anchor="t"/>
          <a:lstStyle/>
          <a:p>
            <a:pPr marL="0" indent="0" algn="l">
              <a:lnSpc>
                <a:spcPts val="2100"/>
              </a:lnSpc>
              <a:buNone/>
            </a:pPr>
            <a:r>
              <a:rPr lang="en-US" sz="1700" dirty="0">
                <a:solidFill>
                  <a:srgbClr val="61615C"/>
                </a:solidFill>
                <a:latin typeface="Tomorrow Semi Bold" pitchFamily="34" charset="0"/>
                <a:ea typeface="Tomorrow Semi Bold" pitchFamily="34" charset="-122"/>
                <a:cs typeface="Tomorrow Semi Bold" pitchFamily="34" charset="-120"/>
              </a:rPr>
              <a:t>Intent Classification</a:t>
            </a:r>
            <a:endParaRPr lang="en-US" sz="1700" dirty="0"/>
          </a:p>
        </p:txBody>
      </p:sp>
      <p:sp>
        <p:nvSpPr>
          <p:cNvPr id="12" name="Text 8"/>
          <p:cNvSpPr/>
          <p:nvPr/>
        </p:nvSpPr>
        <p:spPr>
          <a:xfrm>
            <a:off x="5525214" y="3290292"/>
            <a:ext cx="3579733" cy="990124"/>
          </a:xfrm>
          <a:prstGeom prst="rect">
            <a:avLst/>
          </a:prstGeom>
          <a:noFill/>
          <a:ln/>
        </p:spPr>
        <p:txBody>
          <a:bodyPr wrap="square" lIns="0" tIns="0" rIns="0" bIns="0" rtlCol="0" anchor="t"/>
          <a:lstStyle/>
          <a:p>
            <a:pPr marL="0" indent="0" algn="l">
              <a:lnSpc>
                <a:spcPts val="1900"/>
              </a:lnSpc>
              <a:buNone/>
            </a:pPr>
            <a:r>
              <a:rPr lang="en-US" sz="1350" dirty="0">
                <a:solidFill>
                  <a:srgbClr val="61615C"/>
                </a:solidFill>
                <a:latin typeface="Tomorrow" pitchFamily="34" charset="0"/>
                <a:ea typeface="Tomorrow" pitchFamily="34" charset="-122"/>
                <a:cs typeface="Tomorrow" pitchFamily="34" charset="-120"/>
              </a:rPr>
              <a:t>Develop accurate </a:t>
            </a:r>
            <a:r>
              <a:rPr lang="en-US" sz="1350" b="1" dirty="0">
                <a:solidFill>
                  <a:srgbClr val="61615C"/>
                </a:solidFill>
                <a:latin typeface="Tomorrow" pitchFamily="34" charset="0"/>
                <a:ea typeface="Tomorrow" pitchFamily="34" charset="-122"/>
                <a:cs typeface="Tomorrow" pitchFamily="34" charset="-120"/>
              </a:rPr>
              <a:t>strike-through pattern recognition</a:t>
            </a:r>
            <a:r>
              <a:rPr lang="en-US" sz="1350" dirty="0">
                <a:solidFill>
                  <a:srgbClr val="61615C"/>
                </a:solidFill>
                <a:latin typeface="Tomorrow" pitchFamily="34" charset="0"/>
                <a:ea typeface="Tomorrow" pitchFamily="34" charset="-122"/>
                <a:cs typeface="Tomorrow" pitchFamily="34" charset="-120"/>
              </a:rPr>
              <a:t> that distinguishes between corrections, emphasis, and additions using crossing pattern analysis</a:t>
            </a:r>
            <a:endParaRPr lang="en-US" sz="1350" dirty="0"/>
          </a:p>
        </p:txBody>
      </p:sp>
      <p:sp>
        <p:nvSpPr>
          <p:cNvPr id="13" name="Shape 9"/>
          <p:cNvSpPr/>
          <p:nvPr/>
        </p:nvSpPr>
        <p:spPr>
          <a:xfrm>
            <a:off x="9414153" y="2103358"/>
            <a:ext cx="3929063" cy="2351723"/>
          </a:xfrm>
          <a:prstGeom prst="roundRect">
            <a:avLst>
              <a:gd name="adj" fmla="val 1114"/>
            </a:avLst>
          </a:prstGeom>
          <a:solidFill>
            <a:srgbClr val="F0EAEA"/>
          </a:solidFill>
          <a:ln/>
        </p:spPr>
      </p:sp>
      <p:sp>
        <p:nvSpPr>
          <p:cNvPr id="14" name="Shape 10"/>
          <p:cNvSpPr/>
          <p:nvPr/>
        </p:nvSpPr>
        <p:spPr>
          <a:xfrm>
            <a:off x="9588818" y="2278023"/>
            <a:ext cx="524113" cy="524113"/>
          </a:xfrm>
          <a:prstGeom prst="roundRect">
            <a:avLst>
              <a:gd name="adj" fmla="val 17444875"/>
            </a:avLst>
          </a:prstGeom>
          <a:solidFill>
            <a:srgbClr val="1D1D1B"/>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32883" y="2422088"/>
            <a:ext cx="235863" cy="235863"/>
          </a:xfrm>
          <a:prstGeom prst="rect">
            <a:avLst/>
          </a:prstGeom>
        </p:spPr>
      </p:pic>
      <p:sp>
        <p:nvSpPr>
          <p:cNvPr id="16" name="Text 11"/>
          <p:cNvSpPr/>
          <p:nvPr/>
        </p:nvSpPr>
        <p:spPr>
          <a:xfrm>
            <a:off x="9588818" y="2936677"/>
            <a:ext cx="2505908" cy="272891"/>
          </a:xfrm>
          <a:prstGeom prst="rect">
            <a:avLst/>
          </a:prstGeom>
          <a:noFill/>
          <a:ln/>
        </p:spPr>
        <p:txBody>
          <a:bodyPr wrap="none" lIns="0" tIns="0" rIns="0" bIns="0" rtlCol="0" anchor="t"/>
          <a:lstStyle/>
          <a:p>
            <a:pPr marL="0" indent="0" algn="l">
              <a:lnSpc>
                <a:spcPts val="2100"/>
              </a:lnSpc>
              <a:buNone/>
            </a:pPr>
            <a:r>
              <a:rPr lang="en-US" sz="1700" dirty="0">
                <a:solidFill>
                  <a:srgbClr val="61615C"/>
                </a:solidFill>
                <a:latin typeface="Tomorrow Semi Bold" pitchFamily="34" charset="0"/>
                <a:ea typeface="Tomorrow Semi Bold" pitchFamily="34" charset="-122"/>
                <a:cs typeface="Tomorrow Semi Bold" pitchFamily="34" charset="-120"/>
              </a:rPr>
              <a:t>Adaptive Thresholding</a:t>
            </a:r>
            <a:endParaRPr lang="en-US" sz="1700" dirty="0"/>
          </a:p>
        </p:txBody>
      </p:sp>
      <p:sp>
        <p:nvSpPr>
          <p:cNvPr id="17" name="Text 12"/>
          <p:cNvSpPr/>
          <p:nvPr/>
        </p:nvSpPr>
        <p:spPr>
          <a:xfrm>
            <a:off x="9588818" y="3290292"/>
            <a:ext cx="3579733" cy="990124"/>
          </a:xfrm>
          <a:prstGeom prst="rect">
            <a:avLst/>
          </a:prstGeom>
          <a:noFill/>
          <a:ln/>
        </p:spPr>
        <p:txBody>
          <a:bodyPr wrap="square" lIns="0" tIns="0" rIns="0" bIns="0" rtlCol="0" anchor="t"/>
          <a:lstStyle/>
          <a:p>
            <a:pPr marL="0" indent="0" algn="l">
              <a:lnSpc>
                <a:spcPts val="1900"/>
              </a:lnSpc>
              <a:buNone/>
            </a:pPr>
            <a:r>
              <a:rPr lang="en-US" sz="1350" dirty="0">
                <a:solidFill>
                  <a:srgbClr val="61615C"/>
                </a:solidFill>
                <a:latin typeface="Tomorrow" pitchFamily="34" charset="0"/>
                <a:ea typeface="Tomorrow" pitchFamily="34" charset="-122"/>
                <a:cs typeface="Tomorrow" pitchFamily="34" charset="-120"/>
              </a:rPr>
              <a:t>Implement </a:t>
            </a:r>
            <a:r>
              <a:rPr lang="en-US" sz="1350" b="1" dirty="0">
                <a:solidFill>
                  <a:srgbClr val="61615C"/>
                </a:solidFill>
                <a:latin typeface="Tomorrow" pitchFamily="34" charset="0"/>
                <a:ea typeface="Tomorrow" pitchFamily="34" charset="-122"/>
                <a:cs typeface="Tomorrow" pitchFamily="34" charset="-120"/>
              </a:rPr>
              <a:t>dynamic VLM sensitivity adjustment</a:t>
            </a:r>
            <a:r>
              <a:rPr lang="en-US" sz="1350" dirty="0">
                <a:solidFill>
                  <a:srgbClr val="61615C"/>
                </a:solidFill>
                <a:latin typeface="Tomorrow" pitchFamily="34" charset="0"/>
                <a:ea typeface="Tomorrow" pitchFamily="34" charset="-122"/>
                <a:cs typeface="Tomorrow" pitchFamily="34" charset="-120"/>
              </a:rPr>
              <a:t> that adapts visual understanding based on handwriting quality assessment per answer block</a:t>
            </a:r>
            <a:endParaRPr lang="en-US" sz="1350" dirty="0"/>
          </a:p>
        </p:txBody>
      </p:sp>
      <p:sp>
        <p:nvSpPr>
          <p:cNvPr id="18" name="Shape 13"/>
          <p:cNvSpPr/>
          <p:nvPr/>
        </p:nvSpPr>
        <p:spPr>
          <a:xfrm>
            <a:off x="1286947" y="4589621"/>
            <a:ext cx="3929063" cy="2351723"/>
          </a:xfrm>
          <a:prstGeom prst="roundRect">
            <a:avLst>
              <a:gd name="adj" fmla="val 1114"/>
            </a:avLst>
          </a:prstGeom>
          <a:solidFill>
            <a:srgbClr val="F0EAEA"/>
          </a:solidFill>
          <a:ln/>
        </p:spPr>
      </p:sp>
      <p:sp>
        <p:nvSpPr>
          <p:cNvPr id="19" name="Shape 14"/>
          <p:cNvSpPr/>
          <p:nvPr/>
        </p:nvSpPr>
        <p:spPr>
          <a:xfrm>
            <a:off x="1461611" y="4764286"/>
            <a:ext cx="524113" cy="524113"/>
          </a:xfrm>
          <a:prstGeom prst="roundRect">
            <a:avLst>
              <a:gd name="adj" fmla="val 17444875"/>
            </a:avLst>
          </a:prstGeom>
          <a:solidFill>
            <a:srgbClr val="1D1D1B"/>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05677" y="4908352"/>
            <a:ext cx="235863" cy="235863"/>
          </a:xfrm>
          <a:prstGeom prst="rect">
            <a:avLst/>
          </a:prstGeom>
        </p:spPr>
      </p:pic>
      <p:sp>
        <p:nvSpPr>
          <p:cNvPr id="21" name="Text 15"/>
          <p:cNvSpPr/>
          <p:nvPr/>
        </p:nvSpPr>
        <p:spPr>
          <a:xfrm>
            <a:off x="1461611" y="5422940"/>
            <a:ext cx="2184083" cy="272891"/>
          </a:xfrm>
          <a:prstGeom prst="rect">
            <a:avLst/>
          </a:prstGeom>
          <a:noFill/>
          <a:ln/>
        </p:spPr>
        <p:txBody>
          <a:bodyPr wrap="none" lIns="0" tIns="0" rIns="0" bIns="0" rtlCol="0" anchor="t"/>
          <a:lstStyle/>
          <a:p>
            <a:pPr marL="0" indent="0" algn="l">
              <a:lnSpc>
                <a:spcPts val="2100"/>
              </a:lnSpc>
              <a:buNone/>
            </a:pPr>
            <a:r>
              <a:rPr lang="en-US" sz="1700" dirty="0">
                <a:solidFill>
                  <a:srgbClr val="61615C"/>
                </a:solidFill>
                <a:latin typeface="Tomorrow Semi Bold" pitchFamily="34" charset="0"/>
                <a:ea typeface="Tomorrow Semi Bold" pitchFamily="34" charset="-122"/>
                <a:cs typeface="Tomorrow Semi Bold" pitchFamily="34" charset="-120"/>
              </a:rPr>
              <a:t>Margin Integration</a:t>
            </a:r>
            <a:endParaRPr lang="en-US" sz="1700" dirty="0"/>
          </a:p>
        </p:txBody>
      </p:sp>
      <p:sp>
        <p:nvSpPr>
          <p:cNvPr id="22" name="Text 16"/>
          <p:cNvSpPr/>
          <p:nvPr/>
        </p:nvSpPr>
        <p:spPr>
          <a:xfrm>
            <a:off x="1461611" y="5776555"/>
            <a:ext cx="3579733" cy="742593"/>
          </a:xfrm>
          <a:prstGeom prst="rect">
            <a:avLst/>
          </a:prstGeom>
          <a:noFill/>
          <a:ln/>
        </p:spPr>
        <p:txBody>
          <a:bodyPr wrap="square" lIns="0" tIns="0" rIns="0" bIns="0" rtlCol="0" anchor="t"/>
          <a:lstStyle/>
          <a:p>
            <a:pPr marL="0" indent="0" algn="l">
              <a:lnSpc>
                <a:spcPts val="1900"/>
              </a:lnSpc>
              <a:buNone/>
            </a:pPr>
            <a:r>
              <a:rPr lang="en-US" sz="1350" dirty="0">
                <a:solidFill>
                  <a:srgbClr val="61615C"/>
                </a:solidFill>
                <a:latin typeface="Tomorrow" pitchFamily="34" charset="0"/>
                <a:ea typeface="Tomorrow" pitchFamily="34" charset="-122"/>
                <a:cs typeface="Tomorrow" pitchFamily="34" charset="-120"/>
              </a:rPr>
              <a:t>Create reliable </a:t>
            </a:r>
            <a:r>
              <a:rPr lang="en-US" sz="1350" b="1" dirty="0">
                <a:solidFill>
                  <a:srgbClr val="61615C"/>
                </a:solidFill>
                <a:latin typeface="Tomorrow" pitchFamily="34" charset="0"/>
                <a:ea typeface="Tomorrow" pitchFamily="34" charset="-122"/>
                <a:cs typeface="Tomorrow" pitchFamily="34" charset="-120"/>
              </a:rPr>
              <a:t>arrow-guided margin text stitching</a:t>
            </a:r>
            <a:r>
              <a:rPr lang="en-US" sz="1350" dirty="0">
                <a:solidFill>
                  <a:srgbClr val="61615C"/>
                </a:solidFill>
                <a:latin typeface="Tomorrow" pitchFamily="34" charset="0"/>
                <a:ea typeface="Tomorrow" pitchFamily="34" charset="-122"/>
                <a:cs typeface="Tomorrow" pitchFamily="34" charset="-120"/>
              </a:rPr>
              <a:t> that correctly positions overflow content in the logical answer flow</a:t>
            </a:r>
            <a:endParaRPr lang="en-US" sz="1350" dirty="0"/>
          </a:p>
        </p:txBody>
      </p:sp>
      <p:sp>
        <p:nvSpPr>
          <p:cNvPr id="23" name="Shape 17"/>
          <p:cNvSpPr/>
          <p:nvPr/>
        </p:nvSpPr>
        <p:spPr>
          <a:xfrm>
            <a:off x="5350550" y="4589621"/>
            <a:ext cx="3929063" cy="2351723"/>
          </a:xfrm>
          <a:prstGeom prst="roundRect">
            <a:avLst>
              <a:gd name="adj" fmla="val 1114"/>
            </a:avLst>
          </a:prstGeom>
          <a:solidFill>
            <a:srgbClr val="F0EAEA"/>
          </a:solidFill>
          <a:ln/>
        </p:spPr>
      </p:sp>
      <p:sp>
        <p:nvSpPr>
          <p:cNvPr id="24" name="Shape 18"/>
          <p:cNvSpPr/>
          <p:nvPr/>
        </p:nvSpPr>
        <p:spPr>
          <a:xfrm>
            <a:off x="5525214" y="4764286"/>
            <a:ext cx="524113" cy="524113"/>
          </a:xfrm>
          <a:prstGeom prst="roundRect">
            <a:avLst>
              <a:gd name="adj" fmla="val 17444875"/>
            </a:avLst>
          </a:prstGeom>
          <a:solidFill>
            <a:srgbClr val="1D1D1B"/>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69280" y="4908352"/>
            <a:ext cx="235863" cy="235863"/>
          </a:xfrm>
          <a:prstGeom prst="rect">
            <a:avLst/>
          </a:prstGeom>
        </p:spPr>
      </p:pic>
      <p:sp>
        <p:nvSpPr>
          <p:cNvPr id="26" name="Text 19"/>
          <p:cNvSpPr/>
          <p:nvPr/>
        </p:nvSpPr>
        <p:spPr>
          <a:xfrm>
            <a:off x="5525214" y="5422940"/>
            <a:ext cx="2602230" cy="272891"/>
          </a:xfrm>
          <a:prstGeom prst="rect">
            <a:avLst/>
          </a:prstGeom>
          <a:noFill/>
          <a:ln/>
        </p:spPr>
        <p:txBody>
          <a:bodyPr wrap="none" lIns="0" tIns="0" rIns="0" bIns="0" rtlCol="0" anchor="t"/>
          <a:lstStyle/>
          <a:p>
            <a:pPr marL="0" indent="0" algn="l">
              <a:lnSpc>
                <a:spcPts val="2100"/>
              </a:lnSpc>
              <a:buNone/>
            </a:pPr>
            <a:r>
              <a:rPr lang="en-US" sz="1700" dirty="0">
                <a:solidFill>
                  <a:srgbClr val="61615C"/>
                </a:solidFill>
                <a:latin typeface="Tomorrow Semi Bold" pitchFamily="34" charset="0"/>
                <a:ea typeface="Tomorrow Semi Bold" pitchFamily="34" charset="-122"/>
                <a:cs typeface="Tomorrow Semi Bold" pitchFamily="34" charset="-120"/>
              </a:rPr>
              <a:t>Consistency Assurance</a:t>
            </a:r>
            <a:endParaRPr lang="en-US" sz="1700" dirty="0"/>
          </a:p>
        </p:txBody>
      </p:sp>
      <p:sp>
        <p:nvSpPr>
          <p:cNvPr id="27" name="Text 20"/>
          <p:cNvSpPr/>
          <p:nvPr/>
        </p:nvSpPr>
        <p:spPr>
          <a:xfrm>
            <a:off x="5525214" y="5776555"/>
            <a:ext cx="3579733" cy="742593"/>
          </a:xfrm>
          <a:prstGeom prst="rect">
            <a:avLst/>
          </a:prstGeom>
          <a:noFill/>
          <a:ln/>
        </p:spPr>
        <p:txBody>
          <a:bodyPr wrap="square" lIns="0" tIns="0" rIns="0" bIns="0" rtlCol="0" anchor="t"/>
          <a:lstStyle/>
          <a:p>
            <a:pPr marL="0" indent="0" algn="l">
              <a:lnSpc>
                <a:spcPts val="1900"/>
              </a:lnSpc>
              <a:buNone/>
            </a:pPr>
            <a:r>
              <a:rPr lang="en-US" sz="1350" dirty="0">
                <a:solidFill>
                  <a:srgbClr val="61615C"/>
                </a:solidFill>
                <a:latin typeface="Tomorrow" pitchFamily="34" charset="0"/>
                <a:ea typeface="Tomorrow" pitchFamily="34" charset="-122"/>
                <a:cs typeface="Tomorrow" pitchFamily="34" charset="-120"/>
              </a:rPr>
              <a:t>Eliminate LLM evaluation variance by running </a:t>
            </a:r>
            <a:r>
              <a:rPr lang="en-US" sz="1350" b="1" dirty="0">
                <a:solidFill>
                  <a:srgbClr val="61615C"/>
                </a:solidFill>
                <a:latin typeface="Tomorrow" pitchFamily="34" charset="0"/>
                <a:ea typeface="Tomorrow" pitchFamily="34" charset="-122"/>
                <a:cs typeface="Tomorrow" pitchFamily="34" charset="-120"/>
              </a:rPr>
              <a:t>triple-pass median evaluation</a:t>
            </a:r>
            <a:r>
              <a:rPr lang="en-US" sz="1350" dirty="0">
                <a:solidFill>
                  <a:srgbClr val="61615C"/>
                </a:solidFill>
                <a:latin typeface="Tomorrow" pitchFamily="34" charset="0"/>
                <a:ea typeface="Tomorrow" pitchFamily="34" charset="-122"/>
                <a:cs typeface="Tomorrow" pitchFamily="34" charset="-120"/>
              </a:rPr>
              <a:t> for reliable grading outcomes</a:t>
            </a:r>
            <a:endParaRPr lang="en-US" sz="1350" dirty="0"/>
          </a:p>
        </p:txBody>
      </p:sp>
      <p:sp>
        <p:nvSpPr>
          <p:cNvPr id="28" name="Shape 21"/>
          <p:cNvSpPr/>
          <p:nvPr/>
        </p:nvSpPr>
        <p:spPr>
          <a:xfrm>
            <a:off x="9414153" y="4589621"/>
            <a:ext cx="3929063" cy="2351723"/>
          </a:xfrm>
          <a:prstGeom prst="roundRect">
            <a:avLst>
              <a:gd name="adj" fmla="val 1114"/>
            </a:avLst>
          </a:prstGeom>
          <a:solidFill>
            <a:srgbClr val="F0EAEA"/>
          </a:solidFill>
          <a:ln/>
        </p:spPr>
      </p:sp>
      <p:sp>
        <p:nvSpPr>
          <p:cNvPr id="29" name="Shape 22"/>
          <p:cNvSpPr/>
          <p:nvPr/>
        </p:nvSpPr>
        <p:spPr>
          <a:xfrm>
            <a:off x="9588818" y="4764286"/>
            <a:ext cx="524113" cy="524113"/>
          </a:xfrm>
          <a:prstGeom prst="roundRect">
            <a:avLst>
              <a:gd name="adj" fmla="val 17444875"/>
            </a:avLst>
          </a:prstGeom>
          <a:solidFill>
            <a:srgbClr val="1D1D1B"/>
          </a:solidFill>
          <a:ln/>
        </p:spPr>
      </p:sp>
      <p:pic>
        <p:nvPicPr>
          <p:cNvPr id="30"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32883" y="4908352"/>
            <a:ext cx="235863" cy="235863"/>
          </a:xfrm>
          <a:prstGeom prst="rect">
            <a:avLst/>
          </a:prstGeom>
        </p:spPr>
      </p:pic>
      <p:sp>
        <p:nvSpPr>
          <p:cNvPr id="31" name="Text 23"/>
          <p:cNvSpPr/>
          <p:nvPr/>
        </p:nvSpPr>
        <p:spPr>
          <a:xfrm>
            <a:off x="9588818" y="5422940"/>
            <a:ext cx="2260521" cy="272891"/>
          </a:xfrm>
          <a:prstGeom prst="rect">
            <a:avLst/>
          </a:prstGeom>
          <a:noFill/>
          <a:ln/>
        </p:spPr>
        <p:txBody>
          <a:bodyPr wrap="none" lIns="0" tIns="0" rIns="0" bIns="0" rtlCol="0" anchor="t"/>
          <a:lstStyle/>
          <a:p>
            <a:pPr marL="0" indent="0" algn="l">
              <a:lnSpc>
                <a:spcPts val="2100"/>
              </a:lnSpc>
              <a:buNone/>
            </a:pPr>
            <a:r>
              <a:rPr lang="en-US" sz="1700" dirty="0">
                <a:solidFill>
                  <a:srgbClr val="61615C"/>
                </a:solidFill>
                <a:latin typeface="Tomorrow Semi Bold" pitchFamily="34" charset="0"/>
                <a:ea typeface="Tomorrow Semi Bold" pitchFamily="34" charset="-122"/>
                <a:cs typeface="Tomorrow Semi Bold" pitchFamily="34" charset="-120"/>
              </a:rPr>
              <a:t>Intelligent Feedback</a:t>
            </a:r>
            <a:endParaRPr lang="en-US" sz="1700" dirty="0"/>
          </a:p>
        </p:txBody>
      </p:sp>
      <p:sp>
        <p:nvSpPr>
          <p:cNvPr id="32" name="Text 24"/>
          <p:cNvSpPr/>
          <p:nvPr/>
        </p:nvSpPr>
        <p:spPr>
          <a:xfrm>
            <a:off x="9588818" y="5776555"/>
            <a:ext cx="3579733" cy="990124"/>
          </a:xfrm>
          <a:prstGeom prst="rect">
            <a:avLst/>
          </a:prstGeom>
          <a:noFill/>
          <a:ln/>
        </p:spPr>
        <p:txBody>
          <a:bodyPr wrap="square" lIns="0" tIns="0" rIns="0" bIns="0" rtlCol="0" anchor="t"/>
          <a:lstStyle/>
          <a:p>
            <a:pPr marL="0" indent="0" algn="l">
              <a:lnSpc>
                <a:spcPts val="1900"/>
              </a:lnSpc>
              <a:buNone/>
            </a:pPr>
            <a:r>
              <a:rPr lang="en-US" sz="1350" dirty="0">
                <a:solidFill>
                  <a:srgbClr val="61615C"/>
                </a:solidFill>
                <a:latin typeface="Tomorrow" pitchFamily="34" charset="0"/>
                <a:ea typeface="Tomorrow" pitchFamily="34" charset="-122"/>
                <a:cs typeface="Tomorrow" pitchFamily="34" charset="-120"/>
              </a:rPr>
              <a:t>Generate meaningful explanations for incorrect answers and implement </a:t>
            </a:r>
            <a:r>
              <a:rPr lang="en-US" sz="1350" b="1" dirty="0">
                <a:solidFill>
                  <a:srgbClr val="61615C"/>
                </a:solidFill>
                <a:latin typeface="Tomorrow" pitchFamily="34" charset="0"/>
                <a:ea typeface="Tomorrow" pitchFamily="34" charset="-122"/>
                <a:cs typeface="Tomorrow" pitchFamily="34" charset="-120"/>
              </a:rPr>
              <a:t>partial credit attribution</a:t>
            </a:r>
            <a:r>
              <a:rPr lang="en-US" sz="1350" dirty="0">
                <a:solidFill>
                  <a:srgbClr val="61615C"/>
                </a:solidFill>
                <a:latin typeface="Tomorrow" pitchFamily="34" charset="0"/>
                <a:ea typeface="Tomorrow" pitchFamily="34" charset="-122"/>
                <a:cs typeface="Tomorrow" pitchFamily="34" charset="-120"/>
              </a:rPr>
              <a:t> based on answer completeness</a:t>
            </a:r>
            <a:endParaRPr lang="en-US" sz="1350" dirty="0"/>
          </a:p>
        </p:txBody>
      </p:sp>
      <p:pic>
        <p:nvPicPr>
          <p:cNvPr id="33" name="Picture 32">
            <a:extLst>
              <a:ext uri="{FF2B5EF4-FFF2-40B4-BE49-F238E27FC236}">
                <a16:creationId xmlns:a16="http://schemas.microsoft.com/office/drawing/2014/main" id="{6AF72F0A-9328-07E5-CFA5-115735E48FBF}"/>
              </a:ext>
            </a:extLst>
          </p:cNvPr>
          <p:cNvPicPr>
            <a:picLocks noChangeAspect="1"/>
          </p:cNvPicPr>
          <p:nvPr/>
        </p:nvPicPr>
        <p:blipFill>
          <a:blip r:embed="rId8"/>
          <a:stretch>
            <a:fillRect/>
          </a:stretch>
        </p:blipFill>
        <p:spPr>
          <a:xfrm>
            <a:off x="12094954" y="7676548"/>
            <a:ext cx="2467319" cy="5430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8068" y="833557"/>
            <a:ext cx="4765953" cy="595670"/>
          </a:xfrm>
          <a:prstGeom prst="rect">
            <a:avLst/>
          </a:prstGeom>
          <a:noFill/>
          <a:ln/>
        </p:spPr>
        <p:txBody>
          <a:bodyPr wrap="none" lIns="0" tIns="0" rIns="0" bIns="0" rtlCol="0" anchor="t"/>
          <a:lstStyle/>
          <a:p>
            <a:pPr marL="0" indent="0" algn="l">
              <a:lnSpc>
                <a:spcPts val="4650"/>
              </a:lnSpc>
              <a:buNone/>
            </a:pPr>
            <a:r>
              <a:rPr lang="en-US" sz="3750" dirty="0">
                <a:solidFill>
                  <a:srgbClr val="1D1D1B"/>
                </a:solidFill>
                <a:latin typeface="Tomorrow Semi Bold" pitchFamily="34" charset="0"/>
                <a:ea typeface="Tomorrow Semi Bold" pitchFamily="34" charset="-122"/>
                <a:cs typeface="Tomorrow Semi Bold" pitchFamily="34" charset="-120"/>
              </a:rPr>
              <a:t>Methodology</a:t>
            </a:r>
            <a:endParaRPr lang="en-US" sz="3750" dirty="0"/>
          </a:p>
        </p:txBody>
      </p:sp>
      <p:sp>
        <p:nvSpPr>
          <p:cNvPr id="3" name="Text 1"/>
          <p:cNvSpPr/>
          <p:nvPr/>
        </p:nvSpPr>
        <p:spPr>
          <a:xfrm>
            <a:off x="738068" y="1829633"/>
            <a:ext cx="2946916" cy="297775"/>
          </a:xfrm>
          <a:prstGeom prst="rect">
            <a:avLst/>
          </a:prstGeom>
          <a:noFill/>
          <a:ln/>
        </p:spPr>
        <p:txBody>
          <a:bodyPr wrap="none" lIns="0" tIns="0" rIns="0" bIns="0" rtlCol="0" anchor="t"/>
          <a:lstStyle/>
          <a:p>
            <a:pPr marL="0" indent="0" algn="l">
              <a:lnSpc>
                <a:spcPts val="2300"/>
              </a:lnSpc>
              <a:buNone/>
            </a:pPr>
            <a:r>
              <a:rPr lang="en-US" sz="1850" dirty="0">
                <a:solidFill>
                  <a:srgbClr val="1D1D1B"/>
                </a:solidFill>
                <a:latin typeface="Tomorrow Semi Bold" pitchFamily="34" charset="0"/>
                <a:ea typeface="Tomorrow Semi Bold" pitchFamily="34" charset="-122"/>
                <a:cs typeface="Tomorrow Semi Bold" pitchFamily="34" charset="-120"/>
              </a:rPr>
              <a:t>Phase 1: OCR Processing</a:t>
            </a:r>
            <a:endParaRPr lang="en-US" sz="1850" dirty="0"/>
          </a:p>
        </p:txBody>
      </p:sp>
      <p:sp>
        <p:nvSpPr>
          <p:cNvPr id="4" name="Text 2"/>
          <p:cNvSpPr/>
          <p:nvPr/>
        </p:nvSpPr>
        <p:spPr>
          <a:xfrm>
            <a:off x="738068" y="2287548"/>
            <a:ext cx="6344483" cy="1852017"/>
          </a:xfrm>
          <a:prstGeom prst="rect">
            <a:avLst/>
          </a:prstGeom>
          <a:noFill/>
          <a:ln/>
        </p:spPr>
        <p:txBody>
          <a:bodyPr wrap="square" lIns="0" tIns="0" rIns="0" bIns="0" rtlCol="0" anchor="t"/>
          <a:lstStyle/>
          <a:p>
            <a:pPr marL="342900" indent="-342900" algn="l">
              <a:lnSpc>
                <a:spcPts val="2200"/>
              </a:lnSpc>
              <a:buSzPct val="100000"/>
              <a:buFont typeface="+mj-lt"/>
              <a:buAutoNum type="arabicPeriod"/>
            </a:pPr>
            <a:r>
              <a:rPr lang="en-US" sz="1500" dirty="0">
                <a:solidFill>
                  <a:srgbClr val="61615C"/>
                </a:solidFill>
                <a:latin typeface="Tomorrow" pitchFamily="34" charset="0"/>
                <a:ea typeface="Tomorrow" pitchFamily="34" charset="-122"/>
                <a:cs typeface="Tomorrow" pitchFamily="34" charset="-120"/>
              </a:rPr>
              <a:t>Scan answer sheets at high resolution</a:t>
            </a:r>
            <a:endParaRPr lang="en-US" sz="1500" dirty="0"/>
          </a:p>
          <a:p>
            <a:pPr marL="342900" indent="-342900" algn="l">
              <a:lnSpc>
                <a:spcPts val="2200"/>
              </a:lnSpc>
              <a:buSzPct val="100000"/>
              <a:buFont typeface="+mj-lt"/>
              <a:buAutoNum type="arabicPeriod" startAt="2"/>
            </a:pPr>
            <a:r>
              <a:rPr lang="en-US" sz="1500" dirty="0">
                <a:solidFill>
                  <a:srgbClr val="61615C"/>
                </a:solidFill>
                <a:latin typeface="Tomorrow" pitchFamily="34" charset="0"/>
                <a:ea typeface="Tomorrow" pitchFamily="34" charset="-122"/>
                <a:cs typeface="Tomorrow" pitchFamily="34" charset="-120"/>
              </a:rPr>
              <a:t>Segment into individual answer blocks</a:t>
            </a:r>
            <a:endParaRPr lang="en-US" sz="1500" dirty="0"/>
          </a:p>
          <a:p>
            <a:pPr marL="342900" indent="-342900" algn="l">
              <a:lnSpc>
                <a:spcPts val="2200"/>
              </a:lnSpc>
              <a:buSzPct val="100000"/>
              <a:buFont typeface="+mj-lt"/>
              <a:buAutoNum type="arabicPeriod" startAt="3"/>
            </a:pPr>
            <a:r>
              <a:rPr lang="en-US" sz="1500" dirty="0">
                <a:solidFill>
                  <a:srgbClr val="61615C"/>
                </a:solidFill>
                <a:latin typeface="Tomorrow" pitchFamily="34" charset="0"/>
                <a:ea typeface="Tomorrow" pitchFamily="34" charset="-122"/>
                <a:cs typeface="Tomorrow" pitchFamily="34" charset="-120"/>
              </a:rPr>
              <a:t>Assess handwriting neatness score (0-100)</a:t>
            </a:r>
            <a:endParaRPr lang="en-US" sz="1500" dirty="0"/>
          </a:p>
          <a:p>
            <a:pPr marL="342900" indent="-342900" algn="l">
              <a:lnSpc>
                <a:spcPts val="2200"/>
              </a:lnSpc>
              <a:buSzPct val="100000"/>
              <a:buFont typeface="+mj-lt"/>
              <a:buAutoNum type="arabicPeriod" startAt="4"/>
            </a:pPr>
            <a:r>
              <a:rPr lang="en-US" sz="1500" dirty="0">
                <a:solidFill>
                  <a:srgbClr val="61615C"/>
                </a:solidFill>
                <a:latin typeface="Tomorrow" pitchFamily="34" charset="0"/>
                <a:ea typeface="Tomorrow" pitchFamily="34" charset="-122"/>
                <a:cs typeface="Tomorrow" pitchFamily="34" charset="-120"/>
              </a:rPr>
              <a:t>Apply adaptive processing: VLM for accuracy on complex handwriting, OCR for speed and cost-effective bulk processing, with sensitivity based on neatness score</a:t>
            </a:r>
            <a:endParaRPr lang="en-US" sz="1500" dirty="0"/>
          </a:p>
        </p:txBody>
      </p:sp>
      <p:sp>
        <p:nvSpPr>
          <p:cNvPr id="5" name="Text 3"/>
          <p:cNvSpPr/>
          <p:nvPr/>
        </p:nvSpPr>
        <p:spPr>
          <a:xfrm>
            <a:off x="738068" y="4299704"/>
            <a:ext cx="4795957" cy="297775"/>
          </a:xfrm>
          <a:prstGeom prst="rect">
            <a:avLst/>
          </a:prstGeom>
          <a:noFill/>
          <a:ln/>
        </p:spPr>
        <p:txBody>
          <a:bodyPr wrap="none" lIns="0" tIns="0" rIns="0" bIns="0" rtlCol="0" anchor="t"/>
          <a:lstStyle/>
          <a:p>
            <a:pPr marL="0" indent="0" algn="l">
              <a:lnSpc>
                <a:spcPts val="2300"/>
              </a:lnSpc>
              <a:buNone/>
            </a:pPr>
            <a:r>
              <a:rPr lang="en-US" sz="1850" dirty="0">
                <a:solidFill>
                  <a:srgbClr val="1D1D1B"/>
                </a:solidFill>
                <a:latin typeface="Tomorrow Semi Bold" pitchFamily="34" charset="0"/>
                <a:ea typeface="Tomorrow Semi Bold" pitchFamily="34" charset="-122"/>
                <a:cs typeface="Tomorrow Semi Bold" pitchFamily="34" charset="-120"/>
              </a:rPr>
              <a:t>Phase 1.5: Underline Keyword Detection</a:t>
            </a:r>
            <a:endParaRPr lang="en-US" sz="1850" dirty="0"/>
          </a:p>
        </p:txBody>
      </p:sp>
      <p:sp>
        <p:nvSpPr>
          <p:cNvPr id="6" name="Text 4"/>
          <p:cNvSpPr/>
          <p:nvPr/>
        </p:nvSpPr>
        <p:spPr>
          <a:xfrm>
            <a:off x="738068" y="4757618"/>
            <a:ext cx="6344483" cy="1571387"/>
          </a:xfrm>
          <a:prstGeom prst="rect">
            <a:avLst/>
          </a:prstGeom>
          <a:noFill/>
          <a:ln/>
        </p:spPr>
        <p:txBody>
          <a:bodyPr wrap="square" lIns="0" tIns="0" rIns="0" bIns="0" rtlCol="0" anchor="t"/>
          <a:lstStyle/>
          <a:p>
            <a:pPr marL="342900" indent="-342900" algn="l">
              <a:lnSpc>
                <a:spcPts val="2200"/>
              </a:lnSpc>
              <a:buSzPct val="100000"/>
              <a:buFont typeface="+mj-lt"/>
              <a:buAutoNum type="arabicPeriod"/>
            </a:pPr>
            <a:r>
              <a:rPr lang="en-US" sz="1500" dirty="0">
                <a:solidFill>
                  <a:srgbClr val="61615C"/>
                </a:solidFill>
                <a:latin typeface="Tomorrow" pitchFamily="34" charset="0"/>
                <a:ea typeface="Tomorrow" pitchFamily="34" charset="-122"/>
                <a:cs typeface="Tomorrow" pitchFamily="34" charset="-120"/>
              </a:rPr>
              <a:t>Detect underline patterns beneath text using line detection algorithms</a:t>
            </a:r>
            <a:endParaRPr lang="en-US" sz="1500" dirty="0"/>
          </a:p>
          <a:p>
            <a:pPr marL="342900" indent="-342900" algn="l">
              <a:lnSpc>
                <a:spcPts val="2200"/>
              </a:lnSpc>
              <a:buSzPct val="100000"/>
              <a:buFont typeface="+mj-lt"/>
              <a:buAutoNum type="arabicPeriod" startAt="2"/>
            </a:pPr>
            <a:r>
              <a:rPr lang="en-US" sz="1500" dirty="0">
                <a:solidFill>
                  <a:srgbClr val="61615C"/>
                </a:solidFill>
                <a:latin typeface="Tomorrow" pitchFamily="34" charset="0"/>
                <a:ea typeface="Tomorrow" pitchFamily="34" charset="-122"/>
                <a:cs typeface="Tomorrow" pitchFamily="34" charset="-120"/>
              </a:rPr>
              <a:t>Extract underlined words as important keywords</a:t>
            </a:r>
            <a:endParaRPr lang="en-US" sz="1500" dirty="0"/>
          </a:p>
          <a:p>
            <a:pPr marL="342900" indent="-342900" algn="l">
              <a:lnSpc>
                <a:spcPts val="2200"/>
              </a:lnSpc>
              <a:buSzPct val="100000"/>
              <a:buFont typeface="+mj-lt"/>
              <a:buAutoNum type="arabicPeriod" startAt="3"/>
            </a:pPr>
            <a:r>
              <a:rPr lang="en-US" sz="1500" dirty="0">
                <a:solidFill>
                  <a:srgbClr val="61615C"/>
                </a:solidFill>
                <a:latin typeface="Tomorrow" pitchFamily="34" charset="0"/>
                <a:ea typeface="Tomorrow" pitchFamily="34" charset="-122"/>
                <a:cs typeface="Tomorrow" pitchFamily="34" charset="-120"/>
              </a:rPr>
              <a:t>Tag keywords with importance weight for evaluation</a:t>
            </a:r>
            <a:endParaRPr lang="en-US" sz="1500" dirty="0"/>
          </a:p>
          <a:p>
            <a:pPr marL="342900" indent="-342900" algn="l">
              <a:lnSpc>
                <a:spcPts val="2200"/>
              </a:lnSpc>
              <a:buSzPct val="100000"/>
              <a:buFont typeface="+mj-lt"/>
              <a:buAutoNum type="arabicPeriod" startAt="4"/>
            </a:pPr>
            <a:r>
              <a:rPr lang="en-US" sz="1500" dirty="0">
                <a:solidFill>
                  <a:srgbClr val="61615C"/>
                </a:solidFill>
                <a:latin typeface="Tomorrow" pitchFamily="34" charset="0"/>
                <a:ea typeface="Tomorrow" pitchFamily="34" charset="-122"/>
                <a:cs typeface="Tomorrow" pitchFamily="34" charset="-120"/>
              </a:rPr>
              <a:t>Store keyword metadata for rubric matching</a:t>
            </a:r>
            <a:endParaRPr lang="en-US" sz="1500" dirty="0"/>
          </a:p>
        </p:txBody>
      </p:sp>
      <p:sp>
        <p:nvSpPr>
          <p:cNvPr id="7" name="Text 5"/>
          <p:cNvSpPr/>
          <p:nvPr/>
        </p:nvSpPr>
        <p:spPr>
          <a:xfrm>
            <a:off x="7555230" y="1829633"/>
            <a:ext cx="2913340" cy="297775"/>
          </a:xfrm>
          <a:prstGeom prst="rect">
            <a:avLst/>
          </a:prstGeom>
          <a:noFill/>
          <a:ln/>
        </p:spPr>
        <p:txBody>
          <a:bodyPr wrap="none" lIns="0" tIns="0" rIns="0" bIns="0" rtlCol="0" anchor="t"/>
          <a:lstStyle/>
          <a:p>
            <a:pPr marL="0" indent="0" algn="l">
              <a:lnSpc>
                <a:spcPts val="2300"/>
              </a:lnSpc>
              <a:buNone/>
            </a:pPr>
            <a:r>
              <a:rPr lang="en-US" sz="1850" dirty="0">
                <a:solidFill>
                  <a:srgbClr val="1D1D1B"/>
                </a:solidFill>
                <a:latin typeface="Tomorrow Semi Bold" pitchFamily="34" charset="0"/>
                <a:ea typeface="Tomorrow Semi Bold" pitchFamily="34" charset="-122"/>
                <a:cs typeface="Tomorrow Semi Bold" pitchFamily="34" charset="-120"/>
              </a:rPr>
              <a:t>Phase 2: Intent Analysis</a:t>
            </a:r>
            <a:endParaRPr lang="en-US" sz="1850" dirty="0"/>
          </a:p>
        </p:txBody>
      </p:sp>
      <p:sp>
        <p:nvSpPr>
          <p:cNvPr id="8" name="Text 6"/>
          <p:cNvSpPr/>
          <p:nvPr/>
        </p:nvSpPr>
        <p:spPr>
          <a:xfrm>
            <a:off x="7555230" y="2287548"/>
            <a:ext cx="6344483" cy="1234678"/>
          </a:xfrm>
          <a:prstGeom prst="rect">
            <a:avLst/>
          </a:prstGeom>
          <a:noFill/>
          <a:ln/>
        </p:spPr>
        <p:txBody>
          <a:bodyPr wrap="square" lIns="0" tIns="0" rIns="0" bIns="0" rtlCol="0" anchor="t"/>
          <a:lstStyle/>
          <a:p>
            <a:pPr marL="342900" indent="-342900" algn="l">
              <a:lnSpc>
                <a:spcPts val="2200"/>
              </a:lnSpc>
              <a:buSzPct val="100000"/>
              <a:buFont typeface="+mj-lt"/>
              <a:buAutoNum type="arabicPeriod"/>
            </a:pPr>
            <a:r>
              <a:rPr lang="en-US" sz="1500" dirty="0">
                <a:solidFill>
                  <a:srgbClr val="61615C"/>
                </a:solidFill>
                <a:latin typeface="Tomorrow" pitchFamily="34" charset="0"/>
                <a:ea typeface="Tomorrow" pitchFamily="34" charset="-122"/>
                <a:cs typeface="Tomorrow" pitchFamily="34" charset="-120"/>
              </a:rPr>
              <a:t>Detect strike-through patterns using line detection</a:t>
            </a:r>
            <a:endParaRPr lang="en-US" sz="1500" dirty="0"/>
          </a:p>
          <a:p>
            <a:pPr marL="342900" indent="-342900" algn="l">
              <a:lnSpc>
                <a:spcPts val="2200"/>
              </a:lnSpc>
              <a:buSzPct val="100000"/>
              <a:buFont typeface="+mj-lt"/>
              <a:buAutoNum type="arabicPeriod" startAt="2"/>
            </a:pPr>
            <a:r>
              <a:rPr lang="en-US" sz="1500" dirty="0">
                <a:solidFill>
                  <a:srgbClr val="61615C"/>
                </a:solidFill>
                <a:latin typeface="Tomorrow" pitchFamily="34" charset="0"/>
                <a:ea typeface="Tomorrow" pitchFamily="34" charset="-122"/>
                <a:cs typeface="Tomorrow" pitchFamily="34" charset="-120"/>
              </a:rPr>
              <a:t>Classify: single line=correction, underline=emphasis, arrow=insertion</a:t>
            </a:r>
            <a:endParaRPr lang="en-US" sz="1500" dirty="0"/>
          </a:p>
          <a:p>
            <a:pPr marL="342900" indent="-342900" algn="l">
              <a:lnSpc>
                <a:spcPts val="2200"/>
              </a:lnSpc>
              <a:buSzPct val="100000"/>
              <a:buFont typeface="+mj-lt"/>
              <a:buAutoNum type="arabicPeriod" startAt="3"/>
            </a:pPr>
            <a:r>
              <a:rPr lang="en-US" sz="1500" dirty="0">
                <a:solidFill>
                  <a:srgbClr val="61615C"/>
                </a:solidFill>
                <a:latin typeface="Tomorrow" pitchFamily="34" charset="0"/>
                <a:ea typeface="Tomorrow" pitchFamily="34" charset="-122"/>
                <a:cs typeface="Tomorrow" pitchFamily="34" charset="-120"/>
              </a:rPr>
              <a:t>Process accordingly with appropriate action</a:t>
            </a:r>
            <a:endParaRPr lang="en-US" sz="1500" dirty="0"/>
          </a:p>
        </p:txBody>
      </p:sp>
      <p:sp>
        <p:nvSpPr>
          <p:cNvPr id="9" name="Text 7"/>
          <p:cNvSpPr/>
          <p:nvPr/>
        </p:nvSpPr>
        <p:spPr>
          <a:xfrm>
            <a:off x="7555230" y="3682365"/>
            <a:ext cx="3144679" cy="297775"/>
          </a:xfrm>
          <a:prstGeom prst="rect">
            <a:avLst/>
          </a:prstGeom>
          <a:noFill/>
          <a:ln/>
        </p:spPr>
        <p:txBody>
          <a:bodyPr wrap="none" lIns="0" tIns="0" rIns="0" bIns="0" rtlCol="0" anchor="t"/>
          <a:lstStyle/>
          <a:p>
            <a:pPr marL="0" indent="0" algn="l">
              <a:lnSpc>
                <a:spcPts val="2300"/>
              </a:lnSpc>
              <a:buNone/>
            </a:pPr>
            <a:r>
              <a:rPr lang="en-US" sz="1850" dirty="0">
                <a:solidFill>
                  <a:srgbClr val="1D1D1B"/>
                </a:solidFill>
                <a:latin typeface="Tomorrow Semi Bold" pitchFamily="34" charset="0"/>
                <a:ea typeface="Tomorrow Semi Bold" pitchFamily="34" charset="-122"/>
                <a:cs typeface="Tomorrow Semi Bold" pitchFamily="34" charset="-120"/>
              </a:rPr>
              <a:t>Phase 3: Margin Detection</a:t>
            </a:r>
            <a:endParaRPr lang="en-US" sz="1850" dirty="0"/>
          </a:p>
        </p:txBody>
      </p:sp>
      <p:sp>
        <p:nvSpPr>
          <p:cNvPr id="10" name="Text 8"/>
          <p:cNvSpPr/>
          <p:nvPr/>
        </p:nvSpPr>
        <p:spPr>
          <a:xfrm>
            <a:off x="7555230" y="4140279"/>
            <a:ext cx="6344483" cy="1290757"/>
          </a:xfrm>
          <a:prstGeom prst="rect">
            <a:avLst/>
          </a:prstGeom>
          <a:noFill/>
          <a:ln/>
        </p:spPr>
        <p:txBody>
          <a:bodyPr wrap="square" lIns="0" tIns="0" rIns="0" bIns="0" rtlCol="0" anchor="t"/>
          <a:lstStyle/>
          <a:p>
            <a:pPr marL="342900" indent="-342900" algn="l">
              <a:lnSpc>
                <a:spcPts val="2200"/>
              </a:lnSpc>
              <a:buSzPct val="100000"/>
              <a:buFont typeface="+mj-lt"/>
              <a:buAutoNum type="arabicPeriod"/>
            </a:pPr>
            <a:r>
              <a:rPr lang="en-US" sz="1500" dirty="0">
                <a:solidFill>
                  <a:srgbClr val="61615C"/>
                </a:solidFill>
                <a:latin typeface="Tomorrow" pitchFamily="34" charset="0"/>
                <a:ea typeface="Tomorrow" pitchFamily="34" charset="-122"/>
                <a:cs typeface="Tomorrow" pitchFamily="34" charset="-120"/>
              </a:rPr>
              <a:t>Identify arrow markers pointing to margins</a:t>
            </a:r>
            <a:endParaRPr lang="en-US" sz="1500" dirty="0"/>
          </a:p>
          <a:p>
            <a:pPr marL="342900" indent="-342900" algn="l">
              <a:lnSpc>
                <a:spcPts val="2200"/>
              </a:lnSpc>
              <a:buSzPct val="100000"/>
              <a:buFont typeface="+mj-lt"/>
              <a:buAutoNum type="arabicPeriod" startAt="2"/>
            </a:pPr>
            <a:r>
              <a:rPr lang="en-US" sz="1500" dirty="0">
                <a:solidFill>
                  <a:srgbClr val="61615C"/>
                </a:solidFill>
                <a:latin typeface="Tomorrow" pitchFamily="34" charset="0"/>
                <a:ea typeface="Tomorrow" pitchFamily="34" charset="-122"/>
                <a:cs typeface="Tomorrow" pitchFamily="34" charset="-120"/>
              </a:rPr>
              <a:t>Extract margin text content</a:t>
            </a:r>
            <a:endParaRPr lang="en-US" sz="1500" dirty="0"/>
          </a:p>
          <a:p>
            <a:pPr marL="342900" indent="-342900" algn="l">
              <a:lnSpc>
                <a:spcPts val="2200"/>
              </a:lnSpc>
              <a:buSzPct val="100000"/>
              <a:buFont typeface="+mj-lt"/>
              <a:buAutoNum type="arabicPeriod" startAt="3"/>
            </a:pPr>
            <a:r>
              <a:rPr lang="en-US" sz="1500" dirty="0">
                <a:solidFill>
                  <a:srgbClr val="61615C"/>
                </a:solidFill>
                <a:latin typeface="Tomorrow" pitchFamily="34" charset="0"/>
                <a:ea typeface="Tomorrow" pitchFamily="34" charset="-122"/>
                <a:cs typeface="Tomorrow" pitchFamily="34" charset="-120"/>
              </a:rPr>
              <a:t>Determine insertion point in logical flow</a:t>
            </a:r>
            <a:endParaRPr lang="en-US" sz="1500" dirty="0"/>
          </a:p>
          <a:p>
            <a:pPr marL="342900" indent="-342900" algn="l">
              <a:lnSpc>
                <a:spcPts val="2200"/>
              </a:lnSpc>
              <a:buSzPct val="100000"/>
              <a:buFont typeface="+mj-lt"/>
              <a:buAutoNum type="arabicPeriod" startAt="4"/>
            </a:pPr>
            <a:r>
              <a:rPr lang="en-US" sz="1500" dirty="0">
                <a:solidFill>
                  <a:srgbClr val="61615C"/>
                </a:solidFill>
                <a:latin typeface="Tomorrow" pitchFamily="34" charset="0"/>
                <a:ea typeface="Tomorrow" pitchFamily="34" charset="-122"/>
                <a:cs typeface="Tomorrow" pitchFamily="34" charset="-120"/>
              </a:rPr>
              <a:t>Stitch text into correct position</a:t>
            </a:r>
            <a:endParaRPr lang="en-US" sz="1500" dirty="0"/>
          </a:p>
        </p:txBody>
      </p:sp>
      <p:sp>
        <p:nvSpPr>
          <p:cNvPr id="11" name="Text 9"/>
          <p:cNvSpPr/>
          <p:nvPr/>
        </p:nvSpPr>
        <p:spPr>
          <a:xfrm>
            <a:off x="7555230" y="5591175"/>
            <a:ext cx="3837265" cy="297775"/>
          </a:xfrm>
          <a:prstGeom prst="rect">
            <a:avLst/>
          </a:prstGeom>
          <a:noFill/>
          <a:ln/>
        </p:spPr>
        <p:txBody>
          <a:bodyPr wrap="none" lIns="0" tIns="0" rIns="0" bIns="0" rtlCol="0" anchor="t"/>
          <a:lstStyle/>
          <a:p>
            <a:pPr marL="0" indent="0" algn="l">
              <a:lnSpc>
                <a:spcPts val="2300"/>
              </a:lnSpc>
              <a:buNone/>
            </a:pPr>
            <a:r>
              <a:rPr lang="en-US" sz="1850" dirty="0">
                <a:solidFill>
                  <a:srgbClr val="1D1D1B"/>
                </a:solidFill>
                <a:latin typeface="Tomorrow Semi Bold" pitchFamily="34" charset="0"/>
                <a:ea typeface="Tomorrow Semi Bold" pitchFamily="34" charset="-122"/>
                <a:cs typeface="Tomorrow Semi Bold" pitchFamily="34" charset="-120"/>
              </a:rPr>
              <a:t>Phase 4: Evaluation &amp; Feedback</a:t>
            </a:r>
            <a:endParaRPr lang="en-US" sz="1850" dirty="0"/>
          </a:p>
        </p:txBody>
      </p:sp>
      <p:sp>
        <p:nvSpPr>
          <p:cNvPr id="12" name="Text 10"/>
          <p:cNvSpPr/>
          <p:nvPr/>
        </p:nvSpPr>
        <p:spPr>
          <a:xfrm>
            <a:off x="7555230" y="6049089"/>
            <a:ext cx="6344483" cy="1290757"/>
          </a:xfrm>
          <a:prstGeom prst="rect">
            <a:avLst/>
          </a:prstGeom>
          <a:noFill/>
          <a:ln/>
        </p:spPr>
        <p:txBody>
          <a:bodyPr wrap="square" lIns="0" tIns="0" rIns="0" bIns="0" rtlCol="0" anchor="t"/>
          <a:lstStyle/>
          <a:p>
            <a:pPr marL="342900" indent="-342900" algn="l">
              <a:lnSpc>
                <a:spcPts val="2200"/>
              </a:lnSpc>
              <a:buSzPct val="100000"/>
              <a:buFont typeface="+mj-lt"/>
              <a:buAutoNum type="arabicPeriod"/>
            </a:pPr>
            <a:r>
              <a:rPr lang="en-US" sz="1500" dirty="0">
                <a:solidFill>
                  <a:srgbClr val="61615C"/>
                </a:solidFill>
                <a:latin typeface="Tomorrow" pitchFamily="34" charset="0"/>
                <a:ea typeface="Tomorrow" pitchFamily="34" charset="-122"/>
                <a:cs typeface="Tomorrow" pitchFamily="34" charset="-120"/>
              </a:rPr>
              <a:t>Run LLM evaluation three times independently</a:t>
            </a:r>
            <a:endParaRPr lang="en-US" sz="1500" dirty="0"/>
          </a:p>
          <a:p>
            <a:pPr marL="342900" indent="-342900" algn="l">
              <a:lnSpc>
                <a:spcPts val="2200"/>
              </a:lnSpc>
              <a:buSzPct val="100000"/>
              <a:buFont typeface="+mj-lt"/>
              <a:buAutoNum type="arabicPeriod" startAt="2"/>
            </a:pPr>
            <a:r>
              <a:rPr lang="en-US" sz="1500" dirty="0">
                <a:solidFill>
                  <a:srgbClr val="61615C"/>
                </a:solidFill>
                <a:latin typeface="Tomorrow" pitchFamily="34" charset="0"/>
                <a:ea typeface="Tomorrow" pitchFamily="34" charset="-122"/>
                <a:cs typeface="Tomorrow" pitchFamily="34" charset="-120"/>
              </a:rPr>
              <a:t>Calculate median score for consistency</a:t>
            </a:r>
            <a:endParaRPr lang="en-US" sz="1500" dirty="0"/>
          </a:p>
          <a:p>
            <a:pPr marL="342900" indent="-342900" algn="l">
              <a:lnSpc>
                <a:spcPts val="2200"/>
              </a:lnSpc>
              <a:buSzPct val="100000"/>
              <a:buFont typeface="+mj-lt"/>
              <a:buAutoNum type="arabicPeriod" startAt="3"/>
            </a:pPr>
            <a:r>
              <a:rPr lang="en-US" sz="1500" dirty="0">
                <a:solidFill>
                  <a:srgbClr val="61615C"/>
                </a:solidFill>
                <a:latin typeface="Tomorrow" pitchFamily="34" charset="0"/>
                <a:ea typeface="Tomorrow" pitchFamily="34" charset="-122"/>
                <a:cs typeface="Tomorrow" pitchFamily="34" charset="-120"/>
              </a:rPr>
              <a:t>Compare against rubric for partial credit</a:t>
            </a:r>
            <a:endParaRPr lang="en-US" sz="1500" dirty="0"/>
          </a:p>
          <a:p>
            <a:pPr marL="342900" indent="-342900" algn="l">
              <a:lnSpc>
                <a:spcPts val="2200"/>
              </a:lnSpc>
              <a:buSzPct val="100000"/>
              <a:buFont typeface="+mj-lt"/>
              <a:buAutoNum type="arabicPeriod" startAt="4"/>
            </a:pPr>
            <a:r>
              <a:rPr lang="en-US" sz="1500" dirty="0">
                <a:solidFill>
                  <a:srgbClr val="61615C"/>
                </a:solidFill>
                <a:latin typeface="Tomorrow" pitchFamily="34" charset="0"/>
                <a:ea typeface="Tomorrow" pitchFamily="34" charset="-122"/>
                <a:cs typeface="Tomorrow" pitchFamily="34" charset="-120"/>
              </a:rPr>
              <a:t>Generate detailed feedback explanations</a:t>
            </a:r>
            <a:endParaRPr lang="en-US" sz="1500" dirty="0"/>
          </a:p>
        </p:txBody>
      </p:sp>
      <p:pic>
        <p:nvPicPr>
          <p:cNvPr id="13" name="Picture 12">
            <a:extLst>
              <a:ext uri="{FF2B5EF4-FFF2-40B4-BE49-F238E27FC236}">
                <a16:creationId xmlns:a16="http://schemas.microsoft.com/office/drawing/2014/main" id="{EE728ACE-3536-527A-4808-0F4CC332A6EB}"/>
              </a:ext>
            </a:extLst>
          </p:cNvPr>
          <p:cNvPicPr>
            <a:picLocks noChangeAspect="1"/>
          </p:cNvPicPr>
          <p:nvPr/>
        </p:nvPicPr>
        <p:blipFill>
          <a:blip r:embed="rId3"/>
          <a:stretch>
            <a:fillRect/>
          </a:stretch>
        </p:blipFill>
        <p:spPr>
          <a:xfrm>
            <a:off x="12094954" y="7676548"/>
            <a:ext cx="2467319" cy="5430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441966" y="1120616"/>
            <a:ext cx="4997887" cy="531971"/>
          </a:xfrm>
          <a:prstGeom prst="rect">
            <a:avLst/>
          </a:prstGeom>
          <a:noFill/>
          <a:ln/>
        </p:spPr>
        <p:txBody>
          <a:bodyPr wrap="none" lIns="0" tIns="0" rIns="0" bIns="0" rtlCol="0" anchor="t"/>
          <a:lstStyle/>
          <a:p>
            <a:pPr marL="0" indent="0" algn="l">
              <a:lnSpc>
                <a:spcPts val="4150"/>
              </a:lnSpc>
              <a:buNone/>
            </a:pPr>
            <a:r>
              <a:rPr lang="en-US" sz="3350" dirty="0">
                <a:solidFill>
                  <a:srgbClr val="1D1D1B"/>
                </a:solidFill>
                <a:latin typeface="Tomorrow Semi Bold" pitchFamily="34" charset="0"/>
                <a:ea typeface="Tomorrow Semi Bold" pitchFamily="34" charset="-122"/>
                <a:cs typeface="Tomorrow Semi Bold" pitchFamily="34" charset="-120"/>
              </a:rPr>
              <a:t>Tools and Technologies</a:t>
            </a:r>
            <a:endParaRPr lang="en-US" sz="33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1966" y="1908096"/>
            <a:ext cx="425529" cy="425529"/>
          </a:xfrm>
          <a:prstGeom prst="rect">
            <a:avLst/>
          </a:prstGeom>
        </p:spPr>
      </p:pic>
      <p:sp>
        <p:nvSpPr>
          <p:cNvPr id="4" name="Text 1"/>
          <p:cNvSpPr/>
          <p:nvPr/>
        </p:nvSpPr>
        <p:spPr>
          <a:xfrm>
            <a:off x="1441966" y="2493288"/>
            <a:ext cx="2127885" cy="265867"/>
          </a:xfrm>
          <a:prstGeom prst="rect">
            <a:avLst/>
          </a:prstGeom>
          <a:noFill/>
          <a:ln/>
        </p:spPr>
        <p:txBody>
          <a:bodyPr wrap="none" lIns="0" tIns="0" rIns="0" bIns="0" rtlCol="0" anchor="t"/>
          <a:lstStyle/>
          <a:p>
            <a:pPr marL="0" indent="0" algn="l">
              <a:lnSpc>
                <a:spcPts val="2050"/>
              </a:lnSpc>
              <a:buNone/>
            </a:pPr>
            <a:r>
              <a:rPr lang="en-US" sz="1650" dirty="0">
                <a:solidFill>
                  <a:srgbClr val="61615C"/>
                </a:solidFill>
                <a:latin typeface="Tomorrow Semi Bold" pitchFamily="34" charset="0"/>
                <a:ea typeface="Tomorrow Semi Bold" pitchFamily="34" charset="-122"/>
                <a:cs typeface="Tomorrow Semi Bold" pitchFamily="34" charset="-120"/>
              </a:rPr>
              <a:t>Image Processing</a:t>
            </a:r>
            <a:endParaRPr lang="en-US" sz="1650" dirty="0"/>
          </a:p>
        </p:txBody>
      </p:sp>
      <p:sp>
        <p:nvSpPr>
          <p:cNvPr id="5" name="Text 2"/>
          <p:cNvSpPr/>
          <p:nvPr/>
        </p:nvSpPr>
        <p:spPr>
          <a:xfrm>
            <a:off x="1441966" y="2835712"/>
            <a:ext cx="5793343" cy="715089"/>
          </a:xfrm>
          <a:prstGeom prst="rect">
            <a:avLst/>
          </a:prstGeom>
          <a:noFill/>
          <a:ln/>
        </p:spPr>
        <p:txBody>
          <a:bodyPr wrap="square" lIns="0" tIns="0" rIns="0" bIns="0" rtlCol="0" anchor="t"/>
          <a:lstStyle/>
          <a:p>
            <a:pPr marL="0" indent="0" algn="l">
              <a:lnSpc>
                <a:spcPts val="1850"/>
              </a:lnSpc>
              <a:buNone/>
            </a:pPr>
            <a:r>
              <a:rPr lang="en-US" sz="1300" dirty="0">
                <a:solidFill>
                  <a:srgbClr val="61615C"/>
                </a:solidFill>
                <a:latin typeface="Tomorrow" pitchFamily="34" charset="0"/>
                <a:ea typeface="Tomorrow" pitchFamily="34" charset="-122"/>
                <a:cs typeface="Tomorrow" pitchFamily="34" charset="-120"/>
              </a:rPr>
              <a:t>OpenCV for document scanning, segmentation, handwriting quality assessment, and underline pattern detection using image analysis algorithms</a:t>
            </a:r>
            <a:endParaRPr lang="en-US" sz="13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94972" y="1908096"/>
            <a:ext cx="425529" cy="425529"/>
          </a:xfrm>
          <a:prstGeom prst="rect">
            <a:avLst/>
          </a:prstGeom>
        </p:spPr>
      </p:pic>
      <p:sp>
        <p:nvSpPr>
          <p:cNvPr id="7" name="Text 3"/>
          <p:cNvSpPr/>
          <p:nvPr/>
        </p:nvSpPr>
        <p:spPr>
          <a:xfrm>
            <a:off x="7394972" y="2493288"/>
            <a:ext cx="2127885" cy="265867"/>
          </a:xfrm>
          <a:prstGeom prst="rect">
            <a:avLst/>
          </a:prstGeom>
          <a:noFill/>
          <a:ln/>
        </p:spPr>
        <p:txBody>
          <a:bodyPr wrap="none" lIns="0" tIns="0" rIns="0" bIns="0" rtlCol="0" anchor="t"/>
          <a:lstStyle/>
          <a:p>
            <a:pPr marL="0" indent="0" algn="l">
              <a:lnSpc>
                <a:spcPts val="2050"/>
              </a:lnSpc>
              <a:buNone/>
            </a:pPr>
            <a:r>
              <a:rPr lang="en-US" sz="1650" dirty="0">
                <a:solidFill>
                  <a:srgbClr val="61615C"/>
                </a:solidFill>
                <a:latin typeface="Tomorrow Semi Bold" pitchFamily="34" charset="0"/>
                <a:ea typeface="Tomorrow Semi Bold" pitchFamily="34" charset="-122"/>
                <a:cs typeface="Tomorrow Semi Bold" pitchFamily="34" charset="-120"/>
              </a:rPr>
              <a:t>VLM Engine</a:t>
            </a:r>
            <a:endParaRPr lang="en-US" sz="1650" dirty="0"/>
          </a:p>
        </p:txBody>
      </p:sp>
      <p:sp>
        <p:nvSpPr>
          <p:cNvPr id="8" name="Text 4"/>
          <p:cNvSpPr/>
          <p:nvPr/>
        </p:nvSpPr>
        <p:spPr>
          <a:xfrm>
            <a:off x="7394972" y="2835712"/>
            <a:ext cx="5793462" cy="715089"/>
          </a:xfrm>
          <a:prstGeom prst="rect">
            <a:avLst/>
          </a:prstGeom>
          <a:noFill/>
          <a:ln/>
        </p:spPr>
        <p:txBody>
          <a:bodyPr wrap="square" lIns="0" tIns="0" rIns="0" bIns="0" rtlCol="0" anchor="t"/>
          <a:lstStyle/>
          <a:p>
            <a:pPr marL="0" indent="0" algn="l">
              <a:lnSpc>
                <a:spcPts val="1850"/>
              </a:lnSpc>
              <a:buNone/>
            </a:pPr>
            <a:r>
              <a:rPr lang="en-US" sz="1300" dirty="0">
                <a:solidFill>
                  <a:srgbClr val="61615C"/>
                </a:solidFill>
                <a:latin typeface="Tomorrow" pitchFamily="34" charset="0"/>
                <a:ea typeface="Tomorrow" pitchFamily="34" charset="-122"/>
                <a:cs typeface="Tomorrow" pitchFamily="34" charset="-120"/>
              </a:rPr>
              <a:t>Vision Language Model (GPT-4V or Claude Vision) for high-accuracy handwriting recognition on complex or messy scripts with adaptive sensitivity based on input quality metrics</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41966" y="3806309"/>
            <a:ext cx="425529" cy="425529"/>
          </a:xfrm>
          <a:prstGeom prst="rect">
            <a:avLst/>
          </a:prstGeom>
        </p:spPr>
      </p:pic>
      <p:sp>
        <p:nvSpPr>
          <p:cNvPr id="10" name="Text 5"/>
          <p:cNvSpPr/>
          <p:nvPr/>
        </p:nvSpPr>
        <p:spPr>
          <a:xfrm>
            <a:off x="1441966" y="4391501"/>
            <a:ext cx="2127885" cy="265867"/>
          </a:xfrm>
          <a:prstGeom prst="rect">
            <a:avLst/>
          </a:prstGeom>
          <a:noFill/>
          <a:ln/>
        </p:spPr>
        <p:txBody>
          <a:bodyPr wrap="none" lIns="0" tIns="0" rIns="0" bIns="0" rtlCol="0" anchor="t"/>
          <a:lstStyle/>
          <a:p>
            <a:pPr marL="0" indent="0" algn="l">
              <a:lnSpc>
                <a:spcPts val="2050"/>
              </a:lnSpc>
              <a:buNone/>
            </a:pPr>
            <a:r>
              <a:rPr lang="en-US" sz="1650" dirty="0">
                <a:solidFill>
                  <a:srgbClr val="61615C"/>
                </a:solidFill>
                <a:latin typeface="Tomorrow Semi Bold" pitchFamily="34" charset="0"/>
                <a:ea typeface="Tomorrow Semi Bold" pitchFamily="34" charset="-122"/>
                <a:cs typeface="Tomorrow Semi Bold" pitchFamily="34" charset="-120"/>
              </a:rPr>
              <a:t>OCR Engine</a:t>
            </a:r>
            <a:endParaRPr lang="en-US" sz="1650" dirty="0"/>
          </a:p>
        </p:txBody>
      </p:sp>
      <p:sp>
        <p:nvSpPr>
          <p:cNvPr id="11" name="Text 6"/>
          <p:cNvSpPr/>
          <p:nvPr/>
        </p:nvSpPr>
        <p:spPr>
          <a:xfrm>
            <a:off x="1441966" y="4733925"/>
            <a:ext cx="5793343" cy="715089"/>
          </a:xfrm>
          <a:prstGeom prst="rect">
            <a:avLst/>
          </a:prstGeom>
          <a:noFill/>
          <a:ln/>
        </p:spPr>
        <p:txBody>
          <a:bodyPr wrap="square" lIns="0" tIns="0" rIns="0" bIns="0" rtlCol="0" anchor="t"/>
          <a:lstStyle/>
          <a:p>
            <a:pPr marL="0" indent="0" algn="l">
              <a:lnSpc>
                <a:spcPts val="1850"/>
              </a:lnSpc>
              <a:buNone/>
            </a:pPr>
            <a:r>
              <a:rPr lang="en-US" sz="1300" dirty="0">
                <a:solidFill>
                  <a:srgbClr val="61615C"/>
                </a:solidFill>
                <a:latin typeface="Tomorrow" pitchFamily="34" charset="0"/>
                <a:ea typeface="Tomorrow" pitchFamily="34" charset="-122"/>
                <a:cs typeface="Tomorrow" pitchFamily="34" charset="-120"/>
              </a:rPr>
              <a:t>Tesseract or similar OCR for fast, cost-effective bulk processing of neat handwriting and printed text, enabling scalable processing at lower computational cost</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94972" y="3806309"/>
            <a:ext cx="425529" cy="425529"/>
          </a:xfrm>
          <a:prstGeom prst="rect">
            <a:avLst/>
          </a:prstGeom>
        </p:spPr>
      </p:pic>
      <p:sp>
        <p:nvSpPr>
          <p:cNvPr id="13" name="Text 7"/>
          <p:cNvSpPr/>
          <p:nvPr/>
        </p:nvSpPr>
        <p:spPr>
          <a:xfrm>
            <a:off x="7394972" y="4391501"/>
            <a:ext cx="2127885" cy="265867"/>
          </a:xfrm>
          <a:prstGeom prst="rect">
            <a:avLst/>
          </a:prstGeom>
          <a:noFill/>
          <a:ln/>
        </p:spPr>
        <p:txBody>
          <a:bodyPr wrap="none" lIns="0" tIns="0" rIns="0" bIns="0" rtlCol="0" anchor="t"/>
          <a:lstStyle/>
          <a:p>
            <a:pPr marL="0" indent="0" algn="l">
              <a:lnSpc>
                <a:spcPts val="2050"/>
              </a:lnSpc>
              <a:buNone/>
            </a:pPr>
            <a:r>
              <a:rPr lang="en-US" sz="1650" dirty="0">
                <a:solidFill>
                  <a:srgbClr val="61615C"/>
                </a:solidFill>
                <a:latin typeface="Tomorrow Semi Bold" pitchFamily="34" charset="0"/>
                <a:ea typeface="Tomorrow Semi Bold" pitchFamily="34" charset="-122"/>
                <a:cs typeface="Tomorrow Semi Bold" pitchFamily="34" charset="-120"/>
              </a:rPr>
              <a:t>AI Evaluation</a:t>
            </a:r>
            <a:endParaRPr lang="en-US" sz="1650" dirty="0"/>
          </a:p>
        </p:txBody>
      </p:sp>
      <p:sp>
        <p:nvSpPr>
          <p:cNvPr id="14" name="Text 8"/>
          <p:cNvSpPr/>
          <p:nvPr/>
        </p:nvSpPr>
        <p:spPr>
          <a:xfrm>
            <a:off x="7394972" y="4733925"/>
            <a:ext cx="5793462" cy="476726"/>
          </a:xfrm>
          <a:prstGeom prst="rect">
            <a:avLst/>
          </a:prstGeom>
          <a:noFill/>
          <a:ln/>
        </p:spPr>
        <p:txBody>
          <a:bodyPr wrap="square" lIns="0" tIns="0" rIns="0" bIns="0" rtlCol="0" anchor="t"/>
          <a:lstStyle/>
          <a:p>
            <a:pPr marL="0" indent="0" algn="l">
              <a:lnSpc>
                <a:spcPts val="1850"/>
              </a:lnSpc>
              <a:buNone/>
            </a:pPr>
            <a:r>
              <a:rPr lang="en-US" sz="1300" dirty="0">
                <a:solidFill>
                  <a:srgbClr val="61615C"/>
                </a:solidFill>
                <a:latin typeface="Tomorrow" pitchFamily="34" charset="0"/>
                <a:ea typeface="Tomorrow" pitchFamily="34" charset="-122"/>
                <a:cs typeface="Tomorrow" pitchFamily="34" charset="-120"/>
              </a:rPr>
              <a:t>Large Language Model (GPT-4 or equivalent) for answer evaluation with triple-pass median calculation for consistency</a:t>
            </a:r>
            <a:endParaRPr lang="en-US" sz="13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41966" y="5704523"/>
            <a:ext cx="425529" cy="425529"/>
          </a:xfrm>
          <a:prstGeom prst="rect">
            <a:avLst/>
          </a:prstGeom>
        </p:spPr>
      </p:pic>
      <p:sp>
        <p:nvSpPr>
          <p:cNvPr id="16" name="Text 9"/>
          <p:cNvSpPr/>
          <p:nvPr/>
        </p:nvSpPr>
        <p:spPr>
          <a:xfrm>
            <a:off x="1441966" y="6289715"/>
            <a:ext cx="2127885" cy="265867"/>
          </a:xfrm>
          <a:prstGeom prst="rect">
            <a:avLst/>
          </a:prstGeom>
          <a:noFill/>
          <a:ln/>
        </p:spPr>
        <p:txBody>
          <a:bodyPr wrap="none" lIns="0" tIns="0" rIns="0" bIns="0" rtlCol="0" anchor="t"/>
          <a:lstStyle/>
          <a:p>
            <a:pPr marL="0" indent="0" algn="l">
              <a:lnSpc>
                <a:spcPts val="2050"/>
              </a:lnSpc>
              <a:buNone/>
            </a:pPr>
            <a:r>
              <a:rPr lang="en-US" sz="1650" dirty="0">
                <a:solidFill>
                  <a:srgbClr val="61615C"/>
                </a:solidFill>
                <a:latin typeface="Tomorrow Semi Bold" pitchFamily="34" charset="0"/>
                <a:ea typeface="Tomorrow Semi Bold" pitchFamily="34" charset="-122"/>
                <a:cs typeface="Tomorrow Semi Bold" pitchFamily="34" charset="-120"/>
              </a:rPr>
              <a:t>Arrow Detection</a:t>
            </a:r>
            <a:endParaRPr lang="en-US" sz="1650" dirty="0"/>
          </a:p>
        </p:txBody>
      </p:sp>
      <p:sp>
        <p:nvSpPr>
          <p:cNvPr id="17" name="Text 10"/>
          <p:cNvSpPr/>
          <p:nvPr/>
        </p:nvSpPr>
        <p:spPr>
          <a:xfrm>
            <a:off x="1441966" y="6632138"/>
            <a:ext cx="5793343" cy="476726"/>
          </a:xfrm>
          <a:prstGeom prst="rect">
            <a:avLst/>
          </a:prstGeom>
          <a:noFill/>
          <a:ln/>
        </p:spPr>
        <p:txBody>
          <a:bodyPr wrap="square" lIns="0" tIns="0" rIns="0" bIns="0" rtlCol="0" anchor="t"/>
          <a:lstStyle/>
          <a:p>
            <a:pPr marL="0" indent="0" algn="l">
              <a:lnSpc>
                <a:spcPts val="1850"/>
              </a:lnSpc>
              <a:buNone/>
            </a:pPr>
            <a:r>
              <a:rPr lang="en-US" sz="1300" dirty="0">
                <a:solidFill>
                  <a:srgbClr val="61615C"/>
                </a:solidFill>
                <a:latin typeface="Tomorrow" pitchFamily="34" charset="0"/>
                <a:ea typeface="Tomorrow" pitchFamily="34" charset="-122"/>
                <a:cs typeface="Tomorrow" pitchFamily="34" charset="-120"/>
              </a:rPr>
              <a:t>Custom computer vision algorithms using Hough transform and directional analysis to detect and interpret margin arrows</a:t>
            </a:r>
            <a:endParaRPr lang="en-US" sz="13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94972" y="5704523"/>
            <a:ext cx="425529" cy="425529"/>
          </a:xfrm>
          <a:prstGeom prst="rect">
            <a:avLst/>
          </a:prstGeom>
        </p:spPr>
      </p:pic>
      <p:sp>
        <p:nvSpPr>
          <p:cNvPr id="19" name="Text 11"/>
          <p:cNvSpPr/>
          <p:nvPr/>
        </p:nvSpPr>
        <p:spPr>
          <a:xfrm>
            <a:off x="7394972" y="6289715"/>
            <a:ext cx="2235160" cy="265867"/>
          </a:xfrm>
          <a:prstGeom prst="rect">
            <a:avLst/>
          </a:prstGeom>
          <a:noFill/>
          <a:ln/>
        </p:spPr>
        <p:txBody>
          <a:bodyPr wrap="none" lIns="0" tIns="0" rIns="0" bIns="0" rtlCol="0" anchor="t"/>
          <a:lstStyle/>
          <a:p>
            <a:pPr marL="0" indent="0" algn="l">
              <a:lnSpc>
                <a:spcPts val="2050"/>
              </a:lnSpc>
              <a:buNone/>
            </a:pPr>
            <a:r>
              <a:rPr lang="en-US" sz="1650" dirty="0">
                <a:solidFill>
                  <a:srgbClr val="61615C"/>
                </a:solidFill>
                <a:latin typeface="Tomorrow Semi Bold" pitchFamily="34" charset="0"/>
                <a:ea typeface="Tomorrow Semi Bold" pitchFamily="34" charset="-122"/>
                <a:cs typeface="Tomorrow Semi Bold" pitchFamily="34" charset="-120"/>
              </a:rPr>
              <a:t>Backend Framework</a:t>
            </a:r>
            <a:endParaRPr lang="en-US" sz="1650" dirty="0"/>
          </a:p>
        </p:txBody>
      </p:sp>
      <p:sp>
        <p:nvSpPr>
          <p:cNvPr id="20" name="Text 12"/>
          <p:cNvSpPr/>
          <p:nvPr/>
        </p:nvSpPr>
        <p:spPr>
          <a:xfrm>
            <a:off x="7394972" y="6632138"/>
            <a:ext cx="5793462" cy="476726"/>
          </a:xfrm>
          <a:prstGeom prst="rect">
            <a:avLst/>
          </a:prstGeom>
          <a:noFill/>
          <a:ln/>
        </p:spPr>
        <p:txBody>
          <a:bodyPr wrap="square" lIns="0" tIns="0" rIns="0" bIns="0" rtlCol="0" anchor="t"/>
          <a:lstStyle/>
          <a:p>
            <a:pPr marL="0" indent="0" algn="l">
              <a:lnSpc>
                <a:spcPts val="1850"/>
              </a:lnSpc>
              <a:buNone/>
            </a:pPr>
            <a:r>
              <a:rPr lang="en-US" sz="1300" dirty="0">
                <a:solidFill>
                  <a:srgbClr val="61615C"/>
                </a:solidFill>
                <a:latin typeface="Tomorrow" pitchFamily="34" charset="0"/>
                <a:ea typeface="Tomorrow" pitchFamily="34" charset="-122"/>
                <a:cs typeface="Tomorrow" pitchFamily="34" charset="-120"/>
              </a:rPr>
              <a:t>Spring Boot with Java for implementing REST APIs, microservices architecture, and enterprise-grade data processing</a:t>
            </a:r>
            <a:endParaRPr lang="en-US" sz="1300" dirty="0"/>
          </a:p>
        </p:txBody>
      </p:sp>
      <p:pic>
        <p:nvPicPr>
          <p:cNvPr id="21" name="Picture 20">
            <a:extLst>
              <a:ext uri="{FF2B5EF4-FFF2-40B4-BE49-F238E27FC236}">
                <a16:creationId xmlns:a16="http://schemas.microsoft.com/office/drawing/2014/main" id="{EA5C4011-83F0-2B05-97C2-50B845B907B3}"/>
              </a:ext>
            </a:extLst>
          </p:cNvPr>
          <p:cNvPicPr>
            <a:picLocks noChangeAspect="1"/>
          </p:cNvPicPr>
          <p:nvPr/>
        </p:nvPicPr>
        <p:blipFill>
          <a:blip r:embed="rId8"/>
          <a:stretch>
            <a:fillRect/>
          </a:stretch>
        </p:blipFill>
        <p:spPr>
          <a:xfrm>
            <a:off x="12094954" y="7676548"/>
            <a:ext cx="2467319" cy="5430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226945" y="1506736"/>
            <a:ext cx="3687128" cy="460891"/>
          </a:xfrm>
          <a:prstGeom prst="rect">
            <a:avLst/>
          </a:prstGeom>
          <a:noFill/>
          <a:ln/>
        </p:spPr>
        <p:txBody>
          <a:bodyPr wrap="none" lIns="0" tIns="0" rIns="0" bIns="0" rtlCol="0" anchor="t"/>
          <a:lstStyle/>
          <a:p>
            <a:pPr marL="0" indent="0" algn="l">
              <a:lnSpc>
                <a:spcPts val="3600"/>
              </a:lnSpc>
              <a:buNone/>
            </a:pPr>
            <a:r>
              <a:rPr lang="en-US" sz="4000" dirty="0">
                <a:solidFill>
                  <a:srgbClr val="1D1D1B"/>
                </a:solidFill>
                <a:latin typeface="Tomorrow Semi Bold" pitchFamily="34" charset="0"/>
                <a:ea typeface="Tomorrow Semi Bold" pitchFamily="34" charset="-122"/>
                <a:cs typeface="Tomorrow Semi Bold" pitchFamily="34" charset="-120"/>
              </a:rPr>
              <a:t>Feasibility Study</a:t>
            </a:r>
            <a:endParaRPr lang="en-US" sz="4000" dirty="0"/>
          </a:p>
        </p:txBody>
      </p:sp>
      <p:sp>
        <p:nvSpPr>
          <p:cNvPr id="3" name="Text 1"/>
          <p:cNvSpPr/>
          <p:nvPr/>
        </p:nvSpPr>
        <p:spPr>
          <a:xfrm>
            <a:off x="2226945" y="2233017"/>
            <a:ext cx="2454235" cy="486608"/>
          </a:xfrm>
          <a:prstGeom prst="rect">
            <a:avLst/>
          </a:prstGeom>
          <a:noFill/>
          <a:ln/>
        </p:spPr>
        <p:txBody>
          <a:bodyPr wrap="none" lIns="0" tIns="0" rIns="0" bIns="0" rtlCol="0" anchor="t"/>
          <a:lstStyle/>
          <a:p>
            <a:pPr marL="0" indent="0" algn="ctr">
              <a:lnSpc>
                <a:spcPts val="3800"/>
              </a:lnSpc>
              <a:buNone/>
            </a:pPr>
            <a:r>
              <a:rPr lang="en-US" sz="4800" dirty="0">
                <a:solidFill>
                  <a:srgbClr val="61615C"/>
                </a:solidFill>
                <a:latin typeface="Tomorrow Semi Bold" pitchFamily="34" charset="0"/>
                <a:ea typeface="Tomorrow Semi Bold" pitchFamily="34" charset="-122"/>
                <a:cs typeface="Tomorrow Semi Bold" pitchFamily="34" charset="-120"/>
              </a:rPr>
              <a:t>4</a:t>
            </a:r>
            <a:endParaRPr lang="en-US" sz="4800" dirty="0"/>
          </a:p>
        </p:txBody>
      </p:sp>
      <p:sp>
        <p:nvSpPr>
          <p:cNvPr id="4" name="Text 2"/>
          <p:cNvSpPr/>
          <p:nvPr/>
        </p:nvSpPr>
        <p:spPr>
          <a:xfrm>
            <a:off x="2407087" y="2865239"/>
            <a:ext cx="2093833" cy="230386"/>
          </a:xfrm>
          <a:prstGeom prst="rect">
            <a:avLst/>
          </a:prstGeom>
          <a:noFill/>
          <a:ln/>
        </p:spPr>
        <p:txBody>
          <a:bodyPr wrap="none" lIns="0" tIns="0" rIns="0" bIns="0" rtlCol="0" anchor="t"/>
          <a:lstStyle/>
          <a:p>
            <a:pPr marL="0" indent="0" algn="ctr">
              <a:lnSpc>
                <a:spcPts val="1800"/>
              </a:lnSpc>
              <a:buNone/>
            </a:pPr>
            <a:r>
              <a:rPr lang="en-US" sz="2000" dirty="0">
                <a:solidFill>
                  <a:srgbClr val="61615C"/>
                </a:solidFill>
                <a:latin typeface="Tomorrow Semi Bold" pitchFamily="34" charset="0"/>
                <a:ea typeface="Tomorrow Semi Bold" pitchFamily="34" charset="-122"/>
                <a:cs typeface="Tomorrow Semi Bold" pitchFamily="34" charset="-120"/>
              </a:rPr>
              <a:t>Technology Readiness</a:t>
            </a:r>
            <a:endParaRPr lang="en-US" sz="2000" dirty="0"/>
          </a:p>
        </p:txBody>
      </p:sp>
      <p:sp>
        <p:nvSpPr>
          <p:cNvPr id="5" name="Text 3"/>
          <p:cNvSpPr/>
          <p:nvPr/>
        </p:nvSpPr>
        <p:spPr>
          <a:xfrm>
            <a:off x="2226945" y="3153132"/>
            <a:ext cx="2454235" cy="973336"/>
          </a:xfrm>
          <a:prstGeom prst="rect">
            <a:avLst/>
          </a:prstGeom>
          <a:noFill/>
          <a:ln/>
        </p:spPr>
        <p:txBody>
          <a:bodyPr wrap="square" lIns="0" tIns="0" rIns="0" bIns="0" rtlCol="0" anchor="t"/>
          <a:lstStyle/>
          <a:p>
            <a:pPr marL="0" indent="0" algn="ctr">
              <a:lnSpc>
                <a:spcPts val="1500"/>
              </a:lnSpc>
              <a:buNone/>
            </a:pPr>
            <a:r>
              <a:rPr lang="en-US" sz="1600" dirty="0">
                <a:solidFill>
                  <a:srgbClr val="61615C"/>
                </a:solidFill>
                <a:latin typeface="Tomorrow" pitchFamily="34" charset="0"/>
                <a:ea typeface="Tomorrow" pitchFamily="34" charset="-122"/>
                <a:cs typeface="Tomorrow" pitchFamily="34" charset="-120"/>
              </a:rPr>
              <a:t>All core technologies (OCR, VLM, LLM, image processing) are commercially available and well-documented. Hybrid approach optimizes accuracy and cost.</a:t>
            </a:r>
            <a:endParaRPr lang="en-US" sz="1600" dirty="0"/>
          </a:p>
        </p:txBody>
      </p:sp>
      <p:sp>
        <p:nvSpPr>
          <p:cNvPr id="6" name="Text 4"/>
          <p:cNvSpPr/>
          <p:nvPr/>
        </p:nvSpPr>
        <p:spPr>
          <a:xfrm>
            <a:off x="5739229" y="2210440"/>
            <a:ext cx="2454354" cy="486608"/>
          </a:xfrm>
          <a:prstGeom prst="rect">
            <a:avLst/>
          </a:prstGeom>
          <a:noFill/>
          <a:ln/>
        </p:spPr>
        <p:txBody>
          <a:bodyPr wrap="none" lIns="0" tIns="0" rIns="0" bIns="0" rtlCol="0" anchor="t"/>
          <a:lstStyle/>
          <a:p>
            <a:pPr marL="0" indent="0" algn="ctr">
              <a:lnSpc>
                <a:spcPts val="3800"/>
              </a:lnSpc>
              <a:buNone/>
            </a:pPr>
            <a:r>
              <a:rPr lang="en-US" sz="4800" dirty="0">
                <a:solidFill>
                  <a:srgbClr val="61615C"/>
                </a:solidFill>
                <a:latin typeface="Tomorrow Semi Bold" pitchFamily="34" charset="0"/>
                <a:ea typeface="Tomorrow Semi Bold" pitchFamily="34" charset="-122"/>
                <a:cs typeface="Tomorrow Semi Bold" pitchFamily="34" charset="-120"/>
              </a:rPr>
              <a:t>3</a:t>
            </a:r>
            <a:endParaRPr lang="en-US" sz="4800" dirty="0"/>
          </a:p>
        </p:txBody>
      </p:sp>
      <p:sp>
        <p:nvSpPr>
          <p:cNvPr id="7" name="Text 5"/>
          <p:cNvSpPr/>
          <p:nvPr/>
        </p:nvSpPr>
        <p:spPr>
          <a:xfrm>
            <a:off x="6008548" y="2850656"/>
            <a:ext cx="1982629" cy="230386"/>
          </a:xfrm>
          <a:prstGeom prst="rect">
            <a:avLst/>
          </a:prstGeom>
          <a:noFill/>
          <a:ln/>
        </p:spPr>
        <p:txBody>
          <a:bodyPr wrap="none" lIns="0" tIns="0" rIns="0" bIns="0" rtlCol="0" anchor="t"/>
          <a:lstStyle/>
          <a:p>
            <a:pPr marL="0" indent="0" algn="ctr">
              <a:lnSpc>
                <a:spcPts val="1800"/>
              </a:lnSpc>
              <a:buNone/>
            </a:pPr>
            <a:r>
              <a:rPr lang="en-US" sz="2000" dirty="0">
                <a:solidFill>
                  <a:srgbClr val="61615C"/>
                </a:solidFill>
                <a:latin typeface="Tomorrow Semi Bold" pitchFamily="34" charset="0"/>
                <a:ea typeface="Tomorrow Semi Bold" pitchFamily="34" charset="-122"/>
                <a:cs typeface="Tomorrow Semi Bold" pitchFamily="34" charset="-120"/>
              </a:rPr>
              <a:t>Development Phases</a:t>
            </a:r>
            <a:endParaRPr lang="en-US" sz="2000" dirty="0"/>
          </a:p>
        </p:txBody>
      </p:sp>
      <p:sp>
        <p:nvSpPr>
          <p:cNvPr id="8" name="Text 6"/>
          <p:cNvSpPr/>
          <p:nvPr/>
        </p:nvSpPr>
        <p:spPr>
          <a:xfrm>
            <a:off x="5739229" y="3153132"/>
            <a:ext cx="2454354" cy="778669"/>
          </a:xfrm>
          <a:prstGeom prst="rect">
            <a:avLst/>
          </a:prstGeom>
          <a:noFill/>
          <a:ln/>
        </p:spPr>
        <p:txBody>
          <a:bodyPr wrap="square" lIns="0" tIns="0" rIns="0" bIns="0" rtlCol="0" anchor="t"/>
          <a:lstStyle/>
          <a:p>
            <a:pPr marL="0" indent="0" algn="ctr">
              <a:lnSpc>
                <a:spcPts val="1500"/>
              </a:lnSpc>
              <a:buNone/>
            </a:pPr>
            <a:r>
              <a:rPr lang="en-US" sz="1600" dirty="0">
                <a:solidFill>
                  <a:srgbClr val="61615C"/>
                </a:solidFill>
                <a:latin typeface="Tomorrow" pitchFamily="34" charset="0"/>
                <a:ea typeface="Tomorrow" pitchFamily="34" charset="-122"/>
                <a:cs typeface="Tomorrow" pitchFamily="34" charset="-120"/>
              </a:rPr>
              <a:t>Modular architecture allows parallel development of classification, thresholding, and margin detection components</a:t>
            </a:r>
            <a:endParaRPr lang="en-US" sz="1600" dirty="0"/>
          </a:p>
        </p:txBody>
      </p:sp>
      <p:sp>
        <p:nvSpPr>
          <p:cNvPr id="9" name="Text 7"/>
          <p:cNvSpPr/>
          <p:nvPr/>
        </p:nvSpPr>
        <p:spPr>
          <a:xfrm>
            <a:off x="9266634" y="2264317"/>
            <a:ext cx="2454235" cy="486608"/>
          </a:xfrm>
          <a:prstGeom prst="rect">
            <a:avLst/>
          </a:prstGeom>
          <a:noFill/>
          <a:ln/>
        </p:spPr>
        <p:txBody>
          <a:bodyPr wrap="none" lIns="0" tIns="0" rIns="0" bIns="0" rtlCol="0" anchor="t"/>
          <a:lstStyle/>
          <a:p>
            <a:pPr marL="0" indent="0" algn="ctr">
              <a:lnSpc>
                <a:spcPts val="3800"/>
              </a:lnSpc>
              <a:buNone/>
            </a:pPr>
            <a:r>
              <a:rPr lang="en-US" sz="4800" dirty="0">
                <a:solidFill>
                  <a:srgbClr val="61615C"/>
                </a:solidFill>
                <a:latin typeface="Tomorrow Semi Bold" pitchFamily="34" charset="0"/>
                <a:ea typeface="Tomorrow Semi Bold" pitchFamily="34" charset="-122"/>
                <a:cs typeface="Tomorrow Semi Bold" pitchFamily="34" charset="-120"/>
              </a:rPr>
              <a:t>85%</a:t>
            </a:r>
            <a:endParaRPr lang="en-US" sz="4800" dirty="0"/>
          </a:p>
        </p:txBody>
      </p:sp>
      <p:sp>
        <p:nvSpPr>
          <p:cNvPr id="10" name="Text 8"/>
          <p:cNvSpPr/>
          <p:nvPr/>
        </p:nvSpPr>
        <p:spPr>
          <a:xfrm>
            <a:off x="9498806" y="2885678"/>
            <a:ext cx="1843564" cy="230386"/>
          </a:xfrm>
          <a:prstGeom prst="rect">
            <a:avLst/>
          </a:prstGeom>
          <a:noFill/>
          <a:ln/>
        </p:spPr>
        <p:txBody>
          <a:bodyPr wrap="none" lIns="0" tIns="0" rIns="0" bIns="0" rtlCol="0" anchor="t"/>
          <a:lstStyle/>
          <a:p>
            <a:pPr marL="0" indent="0" algn="ctr">
              <a:lnSpc>
                <a:spcPts val="1800"/>
              </a:lnSpc>
              <a:buNone/>
            </a:pPr>
            <a:r>
              <a:rPr lang="en-US" sz="2000" dirty="0">
                <a:solidFill>
                  <a:srgbClr val="61615C"/>
                </a:solidFill>
                <a:latin typeface="Tomorrow Semi Bold" pitchFamily="34" charset="0"/>
                <a:ea typeface="Tomorrow Semi Bold" pitchFamily="34" charset="-122"/>
                <a:cs typeface="Tomorrow Semi Bold" pitchFamily="34" charset="-120"/>
              </a:rPr>
              <a:t>Accuracy Target</a:t>
            </a:r>
            <a:endParaRPr lang="en-US" sz="2000" dirty="0"/>
          </a:p>
        </p:txBody>
      </p:sp>
      <p:sp>
        <p:nvSpPr>
          <p:cNvPr id="11" name="Text 9"/>
          <p:cNvSpPr/>
          <p:nvPr/>
        </p:nvSpPr>
        <p:spPr>
          <a:xfrm>
            <a:off x="9266634" y="3235558"/>
            <a:ext cx="2454235" cy="584002"/>
          </a:xfrm>
          <a:prstGeom prst="rect">
            <a:avLst/>
          </a:prstGeom>
          <a:noFill/>
          <a:ln/>
        </p:spPr>
        <p:txBody>
          <a:bodyPr wrap="square" lIns="0" tIns="0" rIns="0" bIns="0" rtlCol="0" anchor="t"/>
          <a:lstStyle/>
          <a:p>
            <a:pPr marL="0" indent="0" algn="ctr">
              <a:lnSpc>
                <a:spcPts val="1500"/>
              </a:lnSpc>
              <a:buNone/>
            </a:pPr>
            <a:r>
              <a:rPr lang="en-US" sz="1600" dirty="0">
                <a:solidFill>
                  <a:srgbClr val="61615C"/>
                </a:solidFill>
                <a:latin typeface="Tomorrow" pitchFamily="34" charset="0"/>
                <a:ea typeface="Tomorrow" pitchFamily="34" charset="-122"/>
                <a:cs typeface="Tomorrow" pitchFamily="34" charset="-120"/>
              </a:rPr>
              <a:t>Expected 85%+ accuracy on standardised test datasets with clear handwriting samples</a:t>
            </a:r>
            <a:endParaRPr lang="en-US" sz="1600" dirty="0"/>
          </a:p>
        </p:txBody>
      </p:sp>
      <p:sp>
        <p:nvSpPr>
          <p:cNvPr id="15" name="Shape 13"/>
          <p:cNvSpPr/>
          <p:nvPr/>
        </p:nvSpPr>
        <p:spPr>
          <a:xfrm>
            <a:off x="2125345" y="4795014"/>
            <a:ext cx="10176510" cy="25956"/>
          </a:xfrm>
          <a:prstGeom prst="rect">
            <a:avLst/>
          </a:prstGeom>
          <a:solidFill>
            <a:srgbClr val="61615C">
              <a:alpha val="50000"/>
            </a:srgbClr>
          </a:solidFill>
          <a:ln/>
        </p:spPr>
      </p:sp>
      <p:sp>
        <p:nvSpPr>
          <p:cNvPr id="16" name="Text 14"/>
          <p:cNvSpPr/>
          <p:nvPr/>
        </p:nvSpPr>
        <p:spPr>
          <a:xfrm>
            <a:off x="2125345" y="4912120"/>
            <a:ext cx="2072045" cy="230386"/>
          </a:xfrm>
          <a:prstGeom prst="rect">
            <a:avLst/>
          </a:prstGeom>
          <a:noFill/>
          <a:ln/>
        </p:spPr>
        <p:txBody>
          <a:bodyPr wrap="none" lIns="0" tIns="0" rIns="0" bIns="0" rtlCol="0" anchor="t"/>
          <a:lstStyle/>
          <a:p>
            <a:pPr marL="0" indent="0" algn="l">
              <a:lnSpc>
                <a:spcPts val="1800"/>
              </a:lnSpc>
              <a:buNone/>
            </a:pPr>
            <a:r>
              <a:rPr lang="en-US" sz="2000" dirty="0">
                <a:solidFill>
                  <a:srgbClr val="1D1D1B"/>
                </a:solidFill>
                <a:latin typeface="Tomorrow Semi Bold" pitchFamily="34" charset="0"/>
                <a:ea typeface="Tomorrow Semi Bold" pitchFamily="34" charset="-122"/>
                <a:cs typeface="Tomorrow Semi Bold" pitchFamily="34" charset="-120"/>
              </a:rPr>
              <a:t>Key Feasibility Factors</a:t>
            </a:r>
            <a:endParaRPr lang="en-US" sz="2000" dirty="0"/>
          </a:p>
        </p:txBody>
      </p:sp>
      <p:sp>
        <p:nvSpPr>
          <p:cNvPr id="17" name="Text 15"/>
          <p:cNvSpPr/>
          <p:nvPr/>
        </p:nvSpPr>
        <p:spPr>
          <a:xfrm>
            <a:off x="2125345" y="5320806"/>
            <a:ext cx="1874639" cy="230386"/>
          </a:xfrm>
          <a:prstGeom prst="rect">
            <a:avLst/>
          </a:prstGeom>
          <a:noFill/>
          <a:ln/>
        </p:spPr>
        <p:txBody>
          <a:bodyPr wrap="none" lIns="0" tIns="0" rIns="0" bIns="0" rtlCol="0" anchor="t"/>
          <a:lstStyle/>
          <a:p>
            <a:pPr marL="0" indent="0" algn="l">
              <a:lnSpc>
                <a:spcPts val="1800"/>
              </a:lnSpc>
              <a:buNone/>
            </a:pPr>
            <a:r>
              <a:rPr lang="en-US" sz="2000" dirty="0">
                <a:solidFill>
                  <a:srgbClr val="1D1D1B"/>
                </a:solidFill>
                <a:latin typeface="Tomorrow Semi Bold" pitchFamily="34" charset="0"/>
                <a:ea typeface="Tomorrow Semi Bold" pitchFamily="34" charset="-122"/>
                <a:cs typeface="Tomorrow Semi Bold" pitchFamily="34" charset="-120"/>
              </a:rPr>
              <a:t>Technical Feasibility</a:t>
            </a:r>
            <a:endParaRPr lang="en-US" sz="2000" dirty="0"/>
          </a:p>
        </p:txBody>
      </p:sp>
      <p:sp>
        <p:nvSpPr>
          <p:cNvPr id="18" name="Text 16"/>
          <p:cNvSpPr/>
          <p:nvPr/>
        </p:nvSpPr>
        <p:spPr>
          <a:xfrm>
            <a:off x="2125345" y="5714844"/>
            <a:ext cx="3152894" cy="1362670"/>
          </a:xfrm>
          <a:prstGeom prst="rect">
            <a:avLst/>
          </a:prstGeom>
          <a:noFill/>
          <a:ln/>
        </p:spPr>
        <p:txBody>
          <a:bodyPr wrap="square" lIns="0" tIns="0" rIns="0" bIns="0" rtlCol="0" anchor="t"/>
          <a:lstStyle/>
          <a:p>
            <a:pPr marL="0" indent="0" algn="just">
              <a:lnSpc>
                <a:spcPts val="1500"/>
              </a:lnSpc>
              <a:buNone/>
            </a:pPr>
            <a:r>
              <a:rPr lang="en-US" sz="1600" dirty="0">
                <a:solidFill>
                  <a:srgbClr val="61615C"/>
                </a:solidFill>
                <a:latin typeface="Tomorrow" pitchFamily="34" charset="0"/>
                <a:ea typeface="Tomorrow" pitchFamily="34" charset="-122"/>
                <a:cs typeface="Tomorrow" pitchFamily="34" charset="-120"/>
              </a:rPr>
              <a:t>Existing libraries handle OCR, VLM, and LLM integration. Custom modules for strike-through classification, underline detection, and margin detection are achievable with computer vision expertise. Hybrid OCR+VLM strategy balances accuracy with cost-efficiency.</a:t>
            </a:r>
            <a:endParaRPr lang="en-US" sz="1600" dirty="0"/>
          </a:p>
        </p:txBody>
      </p:sp>
      <p:sp>
        <p:nvSpPr>
          <p:cNvPr id="19" name="Text 17"/>
          <p:cNvSpPr/>
          <p:nvPr/>
        </p:nvSpPr>
        <p:spPr>
          <a:xfrm>
            <a:off x="5739229" y="5320806"/>
            <a:ext cx="1935123" cy="230386"/>
          </a:xfrm>
          <a:prstGeom prst="rect">
            <a:avLst/>
          </a:prstGeom>
          <a:noFill/>
          <a:ln/>
        </p:spPr>
        <p:txBody>
          <a:bodyPr wrap="none" lIns="0" tIns="0" rIns="0" bIns="0" rtlCol="0" anchor="t"/>
          <a:lstStyle/>
          <a:p>
            <a:pPr marL="0" indent="0" algn="l">
              <a:lnSpc>
                <a:spcPts val="1800"/>
              </a:lnSpc>
              <a:buNone/>
            </a:pPr>
            <a:r>
              <a:rPr lang="en-US" sz="2000" dirty="0">
                <a:solidFill>
                  <a:srgbClr val="1D1D1B"/>
                </a:solidFill>
                <a:latin typeface="Tomorrow Semi Bold" pitchFamily="34" charset="0"/>
                <a:ea typeface="Tomorrow Semi Bold" pitchFamily="34" charset="-122"/>
                <a:cs typeface="Tomorrow Semi Bold" pitchFamily="34" charset="-120"/>
              </a:rPr>
              <a:t>Economic Feasibility</a:t>
            </a:r>
            <a:endParaRPr lang="en-US" sz="2000" dirty="0"/>
          </a:p>
        </p:txBody>
      </p:sp>
      <p:sp>
        <p:nvSpPr>
          <p:cNvPr id="20" name="Text 18"/>
          <p:cNvSpPr/>
          <p:nvPr/>
        </p:nvSpPr>
        <p:spPr>
          <a:xfrm>
            <a:off x="5739229" y="5643960"/>
            <a:ext cx="3151942" cy="1362670"/>
          </a:xfrm>
          <a:prstGeom prst="rect">
            <a:avLst/>
          </a:prstGeom>
          <a:noFill/>
          <a:ln/>
        </p:spPr>
        <p:txBody>
          <a:bodyPr wrap="square" lIns="0" tIns="0" rIns="0" bIns="0" rtlCol="0" anchor="t"/>
          <a:lstStyle/>
          <a:p>
            <a:pPr marL="0" indent="0" algn="just">
              <a:lnSpc>
                <a:spcPts val="1500"/>
              </a:lnSpc>
              <a:buNone/>
            </a:pPr>
            <a:r>
              <a:rPr lang="en-US" sz="1600" dirty="0">
                <a:solidFill>
                  <a:srgbClr val="61615C"/>
                </a:solidFill>
                <a:latin typeface="Tomorrow" pitchFamily="34" charset="0"/>
                <a:ea typeface="Tomorrow" pitchFamily="34" charset="-122"/>
                <a:cs typeface="Tomorrow" pitchFamily="34" charset="-120"/>
              </a:rPr>
              <a:t>Hybrid OCR+VLM approach reduces costs by using OCR for bulk processing and VLM only for complex cases. Cloud-based infrastructure keeps costs low. Open-source tools reduce licensing expenses. Scalable design supports growth from classroom to institutional use.</a:t>
            </a:r>
            <a:endParaRPr lang="en-US" sz="1600" dirty="0"/>
          </a:p>
        </p:txBody>
      </p:sp>
      <p:sp>
        <p:nvSpPr>
          <p:cNvPr id="21" name="Text 19"/>
          <p:cNvSpPr/>
          <p:nvPr/>
        </p:nvSpPr>
        <p:spPr>
          <a:xfrm>
            <a:off x="9266634" y="5256331"/>
            <a:ext cx="2075736" cy="230386"/>
          </a:xfrm>
          <a:prstGeom prst="rect">
            <a:avLst/>
          </a:prstGeom>
          <a:noFill/>
          <a:ln/>
        </p:spPr>
        <p:txBody>
          <a:bodyPr wrap="none" lIns="0" tIns="0" rIns="0" bIns="0" rtlCol="0" anchor="t"/>
          <a:lstStyle/>
          <a:p>
            <a:pPr marL="0" indent="0" algn="l">
              <a:lnSpc>
                <a:spcPts val="1800"/>
              </a:lnSpc>
              <a:buNone/>
            </a:pPr>
            <a:r>
              <a:rPr lang="en-US" sz="2000" dirty="0">
                <a:solidFill>
                  <a:srgbClr val="1D1D1B"/>
                </a:solidFill>
                <a:latin typeface="Tomorrow Semi Bold" pitchFamily="34" charset="0"/>
                <a:ea typeface="Tomorrow Semi Bold" pitchFamily="34" charset="-122"/>
                <a:cs typeface="Tomorrow Semi Bold" pitchFamily="34" charset="-120"/>
              </a:rPr>
              <a:t>Operational Feasibility</a:t>
            </a:r>
            <a:endParaRPr lang="en-US" sz="2000" dirty="0"/>
          </a:p>
        </p:txBody>
      </p:sp>
      <p:sp>
        <p:nvSpPr>
          <p:cNvPr id="22" name="Text 20"/>
          <p:cNvSpPr/>
          <p:nvPr/>
        </p:nvSpPr>
        <p:spPr>
          <a:xfrm>
            <a:off x="9266634" y="5617510"/>
            <a:ext cx="3151942" cy="778669"/>
          </a:xfrm>
          <a:prstGeom prst="rect">
            <a:avLst/>
          </a:prstGeom>
          <a:noFill/>
          <a:ln/>
        </p:spPr>
        <p:txBody>
          <a:bodyPr wrap="square" lIns="0" tIns="0" rIns="0" bIns="0" rtlCol="0" anchor="t"/>
          <a:lstStyle/>
          <a:p>
            <a:pPr marL="0" indent="0" algn="just">
              <a:lnSpc>
                <a:spcPts val="1500"/>
              </a:lnSpc>
              <a:buNone/>
            </a:pPr>
            <a:r>
              <a:rPr lang="en-US" sz="1600" dirty="0">
                <a:solidFill>
                  <a:srgbClr val="61615C"/>
                </a:solidFill>
                <a:latin typeface="Tomorrow" pitchFamily="34" charset="0"/>
                <a:ea typeface="Tomorrow" pitchFamily="34" charset="-122"/>
                <a:cs typeface="Tomorrow" pitchFamily="34" charset="-120"/>
              </a:rPr>
              <a:t>Intuitive interface for teachers. Minimal training required. Integrates with existing LMS platforms. Processes standardised answer sheet formats.</a:t>
            </a:r>
            <a:endParaRPr lang="en-US" sz="1600" dirty="0"/>
          </a:p>
        </p:txBody>
      </p:sp>
      <p:pic>
        <p:nvPicPr>
          <p:cNvPr id="23" name="Picture 22">
            <a:extLst>
              <a:ext uri="{FF2B5EF4-FFF2-40B4-BE49-F238E27FC236}">
                <a16:creationId xmlns:a16="http://schemas.microsoft.com/office/drawing/2014/main" id="{994AE52E-071D-9A7B-9C3D-317F21A8B398}"/>
              </a:ext>
            </a:extLst>
          </p:cNvPr>
          <p:cNvPicPr>
            <a:picLocks noChangeAspect="1"/>
          </p:cNvPicPr>
          <p:nvPr/>
        </p:nvPicPr>
        <p:blipFill>
          <a:blip r:embed="rId3"/>
          <a:stretch>
            <a:fillRect/>
          </a:stretch>
        </p:blipFill>
        <p:spPr>
          <a:xfrm>
            <a:off x="12094954" y="7676548"/>
            <a:ext cx="2467319" cy="5430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1329</Words>
  <Application>Microsoft Office PowerPoint</Application>
  <PresentationFormat>Custom</PresentationFormat>
  <Paragraphs>168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Tomorrow Light</vt:lpstr>
      <vt:lpstr>Tomorrow Semi Bold</vt:lpstr>
      <vt:lpstr>Arial</vt:lpstr>
      <vt:lpstr>Tomorrow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charan reddy</cp:lastModifiedBy>
  <cp:revision>2</cp:revision>
  <dcterms:created xsi:type="dcterms:W3CDTF">2026-03-05T11:35:02Z</dcterms:created>
  <dcterms:modified xsi:type="dcterms:W3CDTF">2026-07-17T06:22:49Z</dcterms:modified>
</cp:coreProperties>
</file>