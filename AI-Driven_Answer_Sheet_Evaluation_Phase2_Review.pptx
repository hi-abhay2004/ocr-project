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71" r:id="rId11"/>
    <p:sldId id="270" r:id="rId12"/>
    <p:sldId id="272" r:id="rId39"/>
  </p:sldIdLst>
  <p:sldSz cx="9144000" cy="6858000" type="screen4x3"/>
  <p:notesSz cx="6858000" cy="9144000"/>
  <p:embeddedFontLst>
    <p:embeddedFont>
      <p:font typeface="Century Schoolbook" panose="02040604050505020304" pitchFamily="18" charset="0"/>
      <p:regular r:id="rId15"/>
      <p:bold r:id="rId16"/>
      <p:italic r:id="rId17"/>
      <p:boldItalic r:id="rId18"/>
    </p:embeddedFont>
    <p:embeddedFont>
      <p:font typeface="Roboto" panose="020B0604020202020204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Bookman Old Style" panose="02050604050505020204" pitchFamily="18" charset="0"/>
      <p:regular r:id="rId27"/>
      <p:bold r:id="rId28"/>
      <p:italic r:id="rId29"/>
      <p:boldItalic r:id="rId30"/>
    </p:embeddedFont>
    <p:embeddedFont>
      <p:font typeface="Cambria Math" panose="02040503050406030204" pitchFamily="18" charset="0"/>
      <p:regular r:id="rId31"/>
    </p:embeddedFont>
    <p:embeddedFont>
      <p:font typeface="Arial Black" panose="020B0A04020102020204" pitchFamily="3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QmHZMLQPRrBnjCO/7tdUMXWBY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3A9E66-F23F-4685-8762-FB8163C4B72E}">
  <a:tblStyle styleId="{803A9E66-F23F-4685-8762-FB8163C4B72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CEC"/>
          </a:solidFill>
        </a:fill>
      </a:tcStyle>
    </a:wholeTbl>
    <a:band1H>
      <a:tcTxStyle b="off" i="off"/>
      <a:tcStyle>
        <a:tcBdr/>
        <a:fill>
          <a:solidFill>
            <a:srgbClr val="D6D6D6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6D6D6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174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Relationship Id="rId23" Type="http://schemas.openxmlformats.org/officeDocument/2006/relationships/font" Target="fonts/font9.fntdata"/><Relationship Id="rId24" Type="http://schemas.openxmlformats.org/officeDocument/2006/relationships/font" Target="fonts/font10.fntdata"/><Relationship Id="rId25" Type="http://schemas.openxmlformats.org/officeDocument/2006/relationships/font" Target="fonts/font11.fntdata"/><Relationship Id="rId26" Type="http://schemas.openxmlformats.org/officeDocument/2006/relationships/font" Target="fonts/font12.fntdata"/><Relationship Id="rId27" Type="http://schemas.openxmlformats.org/officeDocument/2006/relationships/font" Target="fonts/font13.fntdata"/><Relationship Id="rId28" Type="http://schemas.openxmlformats.org/officeDocument/2006/relationships/font" Target="fonts/font14.fntdata"/><Relationship Id="rId29" Type="http://schemas.openxmlformats.org/officeDocument/2006/relationships/font" Target="fonts/font15.fntdata"/><Relationship Id="rId30" Type="http://schemas.openxmlformats.org/officeDocument/2006/relationships/font" Target="fonts/font16.fntdata"/><Relationship Id="rId31" Type="http://schemas.openxmlformats.org/officeDocument/2006/relationships/font" Target="fonts/font17.fntdata"/><Relationship Id="rId32" Type="http://schemas.openxmlformats.org/officeDocument/2006/relationships/font" Target="fonts/font18.fntdata"/><Relationship Id="rId33" Type="http://schemas.openxmlformats.org/officeDocument/2006/relationships/font" Target="fonts/font19.fntdata"/><Relationship Id="rId34" Type="http://customschemas.google.com/relationships/presentationmetadata" Target="meta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7811BD-A0D9-3EE1-9407-F337868D4E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C4D7B2-6F3E-59DD-FDFE-E247263ACC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6054B-70BE-4932-BEB3-9E86882DF59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A9260-E315-894A-7727-A05541FBB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58F91D-4B89-2E4F-8540-19748FE84C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BCD33-6147-403D-AA0A-457D67530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16723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74EA8F-8FF2-29B5-64D1-F4B7A4A18E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64a40ef3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64a40ef3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a64a40ef39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0F4788-8663-2B40-A8DA-EE16EAE36F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64a40ef3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64a40ef3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" name="Google Shape;113;g3a64a40ef39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FB580A-CC69-A1EB-4334-4953B4EE2F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64a40ef3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64a40ef3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a64a40ef39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213BD1-B11C-93D9-2812-FBB33D60BF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64a40ef39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64a40ef39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a64a40ef39_2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6A092B-DDD9-08B8-88C0-92F7E42826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64a40ef39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64a40ef39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a64a40ef39_2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94FE26-81B1-ABCB-5078-0084A1BDBE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64a40ef39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64a40ef39_2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a64a40ef39_2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AE2A33-4FB0-FEB2-45EC-843A6AB610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64a40ef39_2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64a40ef39_2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a64a40ef39_2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2C23AA-E5AB-0C7F-55C3-BA5A4327107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64a40ef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64a40ef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a64a40ef3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053429-B8AC-800A-1E90-CBBEA9786F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 Black"/>
              <a:buNone/>
              <a:defRPr sz="8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22" name="Google Shape;22;p5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 Black"/>
              <a:buNone/>
              <a:defRPr sz="88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1630680" y="1574800"/>
            <a:ext cx="32918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5090160" y="1574800"/>
            <a:ext cx="32918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1627632" y="2259366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5093208" y="1572768"/>
            <a:ext cx="329184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4"/>
          </p:nvPr>
        </p:nvSpPr>
        <p:spPr>
          <a:xfrm>
            <a:off x="5093208" y="2259366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3"/>
          <p:cNvSpPr>
            <a:spLocks noGrp="1"/>
          </p:cNvSpPr>
          <p:nvPr>
            <p:ph type="pic" idx="2"/>
          </p:nvPr>
        </p:nvSpPr>
        <p:spPr>
          <a:xfrm>
            <a:off x="-1" y="0"/>
            <a:ext cx="9000877" cy="484632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457200" y="5715000"/>
            <a:ext cx="815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2080419" y="129382"/>
            <a:ext cx="4373563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  <a:defRPr sz="3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4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entury Schoolbook"/>
              <a:buNone/>
            </a:pPr>
            <a:r>
              <a:rPr lang="en-IN" b="1">
                <a:latin typeface="Century Schoolbook"/>
                <a:ea typeface="Century Schoolbook"/>
                <a:cs typeface="Century Schoolbook"/>
                <a:sym typeface="Century Schoolbook"/>
              </a:rPr>
              <a:t>CONTENT</a:t>
            </a:r>
            <a:br>
              <a:rPr lang="en-IN" b="1"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endParaRPr b="1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457200" y="1041009"/>
            <a:ext cx="8229600" cy="5542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71500" indent="-5577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t>Abstract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indent="-5577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t>Introduction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indent="-5577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t>Problem statement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indent="-5577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t>Objectives of the work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indent="-5577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t>Methodology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indent="-5577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t>Implementation of project Execution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indent="-5577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t>Experimental Setup, Expected Results &amp; Analysis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indent="-5577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t>Project Status, Conclusion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indent="-5577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t>Publication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indent="-5577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t>References(IEEE format)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8EB12-1B62-6FEB-4F9A-BB274C4DBC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8E2F0-886E-19C2-554E-EBC5C6F24D9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199" y="6492875"/>
            <a:ext cx="8095673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64a40ef39_0_6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64281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g3a64a40ef39_0_6"/>
          <p:cNvSpPr txBox="1">
            <a:spLocks noGrp="1"/>
          </p:cNvSpPr>
          <p:nvPr>
            <p:ph type="body" idx="1"/>
          </p:nvPr>
        </p:nvSpPr>
        <p:spPr>
          <a:xfrm>
            <a:off x="457200" y="1297590"/>
            <a:ext cx="7620000" cy="502412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t>Context: Manual evaluation of handwritten exam answer sheets is slow, inconsistent across evaluators, and does not scale to large classes.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t>Problem Identified: Existing OCR / auto-grading tools handle printed or MCQ answers well, but real handwritten, annotated descriptive answers — with strikethroughs, underlines, margin insertions and diagrams — remain largely unaddressed.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t>Objective: To build an end-to-end system that reads a photographed handwritten answer sheet, correctly interprets hand-drawn annotations, and scores each answer against concepts extracted automatically from the teacher's own model answer.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t>Methods: A computer-vision pipeline (preprocessing, segmentation, Hough-transform annotation detection with VLM adjudication, adaptive OCR routing) feeds a RAG-based scoring pipeline (chunk retrieval, triple-pass LLM coverage voting, embedding similarity) that produces a mark, a confidence score, and structured feedback per concept.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t>Results: The system correctly transcribes real handwritten answers, detects genuine annotations while rejecting printed page furniture misread as marks, computes concept-level scores consistent with answer quality, and exposes a confidence band so teachers know which sheets need a manual look.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t>Keywords: OCR, Computer Vision, Retrieval-Augmented Generation, Large Language Models, Vision-Language Models, Automated Grading, Django, Celery, pgvector.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C5DB4-DE2F-7C54-72E8-D875E945EEC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52983" y="6421437"/>
            <a:ext cx="8318361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015D3-FC46-4C05-CA6C-5B379E1A48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64a40ef39_0_12"/>
          <p:cNvSpPr txBox="1">
            <a:spLocks noGrp="1"/>
          </p:cNvSpPr>
          <p:nvPr>
            <p:ph type="title"/>
          </p:nvPr>
        </p:nvSpPr>
        <p:spPr>
          <a:xfrm>
            <a:off x="1783080" y="291423"/>
            <a:ext cx="5791200" cy="880554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g3a64a40ef39_0_12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t>Manual grading of handwritten answer sheets is repetitive and time-consuming, and evaluator fatigue makes concept-level feedback inconsistent across a large class.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t>Existing automated grading tools largely assume typed or MCQ input — very little tooling handles real handwriting with corrections (strikethroughs), emphasis (underlines) and margin insertions the way a human evaluator naturally reads them.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t>Scope: build a pipeline from a photographed/scanned answer sheet all the way to a teacher-reviewable, per-concept mark — not just an OCR demo, and not just an LLM asked to "grade this."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t>Related work reviewed: classical OCR engines (Tesseract), Retrieval-Augmented Generation for grounding LLM judgements in the actual answer text, and vision-language models as a fallback for content classical CV/OCR cannot read reliably.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1D392-EBCD-1E72-4571-835535255C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C057E-C4CC-4DA0-3F99-BA2B87E1A63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156448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64a40ef39_0_18"/>
          <p:cNvSpPr txBox="1">
            <a:spLocks noGrp="1"/>
          </p:cNvSpPr>
          <p:nvPr>
            <p:ph type="title"/>
          </p:nvPr>
        </p:nvSpPr>
        <p:spPr>
          <a:xfrm>
            <a:off x="674600" y="312550"/>
            <a:ext cx="7230300" cy="976754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123;g3a64a40ef39_0_18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t>Evaluators spend significant time per handwritten sheet, and cannot always give consistent, concept-by-concept feedback across a full class.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t>A single LLM call asked to "grade this answer" gives no auditable reasoning, no per-concept breakdown, and no reliable way for a teacher to trust or override the result.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t>Real answer sheets contain hand-drawn corrections and emphasis (strikethroughs, underlines, arrows to margin notes) that a plain OCR transcription silently gets wrong — either keeping deleted text or losing inserted text.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t>Gap addressed: a defensible, concept-by-concept, teacher-reviewable pipeline that works directly on photographed handwritten sheets, not on typed or pre-cleaned text.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9181E-A078-B3C5-963B-BBBFBF2AA13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055864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1517E-A088-090E-873E-91A0D55F2E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64a40ef39_2_2"/>
          <p:cNvSpPr txBox="1">
            <a:spLocks noGrp="1"/>
          </p:cNvSpPr>
          <p:nvPr>
            <p:ph type="title"/>
          </p:nvPr>
        </p:nvSpPr>
        <p:spPr>
          <a:xfrm>
            <a:off x="457200" y="152725"/>
            <a:ext cx="8194200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g3a64a40ef39_2_2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t>Automatically decompose a teacher's model answer into independently gradable, weighted concepts.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t>Reliably segment a photographed answer sheet into per-question blocks, even when the student has not written a clear question-number label.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t>Detect and correctly interpret hand-drawn annotations — strikethrough as deletion, underline as emphasis, arrow as a margin-note insertion point — and escalate genuinely ambiguous marks to a vision-language model rather than guessing.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t>Score each concept from two independent signals (embedding similarity and a triple-pass LLM coverage vote), producing a mark, a measurable confidence, and structured feedback.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t>Give teachers a reviewable, override-able interface, and give students visibility only into their own approved results.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EB978-79E7-EC0D-D7F2-93B6BFFA31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0EE17-2BAE-351A-5ED4-1C8461DF9FF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092440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64a40ef39_2_8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Google Shape;137;g3a64a40ef39_2_8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t>Computer-vision pipeline (L1-L5):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8300" algn="l" rtl="0"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t>L1 Preprocessing — denoise, deskew, adaptive threshold, quality scoring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8300" algn="l" rtl="0"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t>L2 Segmentation — line/row detection; question-number reading via Tesseract with a vision-language-model fallback for handwritten or unlabelled numbers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8300" algn="l" rtl="0"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t>L3 / L3.5 Annotation detection — Hough-transform strike/underline/arrow/margin detection, with VLM adjudication for ambiguous marks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8300" algn="l" rtl="0"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t>L4 / L4.5 Adaptive OCR — Tesseract routed by scan quality, vision-language-model transcription for low-confidence or non-text (diagram/table/equation) content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8300" algn="l" rtl="0"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t>L5 Reconstruction — drop struck-out text, stitch margin notes in at arrow tips, assemble correct reading order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t>RAG + LLM scoring pipeline (L6-L8):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8300" algn="l" rtl="0"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t>L6 Chunking &amp; retrieval — chunk the reconstructed answer, retrieve top-matching chunks per concept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8300" algn="l" rtl="0"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t>L7 Coverage voting — three independent LLM passes per concept, majority-voted verdict with a measurable agreement score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8300" algn="l" rtl="0"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t>L8 Scoring, confidence &amp; feedback — combine similarity and LLM verdict into a mark; combine OCR quality, vote agreement and retrieval corroboration into a confidence band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t>Tech stack: Django REST Framework, Celery + Redis, PostgreSQL + pgvector, React + TypeScript, OpenCV, Tesseract OCR, hosted LLM/VLM/embedding models, pytest (265 automated tests).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B6E70-8782-7CF1-A492-D7C8D75323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5039F-2A94-A08F-F818-4DDB82E2B04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065008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64a40ef39_2_30"/>
          <p:cNvSpPr txBox="1">
            <a:spLocks noGrp="1"/>
          </p:cNvSpPr>
          <p:nvPr>
            <p:ph type="title"/>
          </p:nvPr>
        </p:nvSpPr>
        <p:spPr>
          <a:xfrm>
            <a:off x="457200" y="152725"/>
            <a:ext cx="8467344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None/>
            </a:pPr>
            <a:r>
              <a:rPr lang="en-IN" sz="2900" b="1" dirty="0">
                <a:solidFill>
                  <a:schemeClr val="bg2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DEMONSTRATION OF PROJECT EXECUTION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g3a64a40ef39_2_30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165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t>Technologies: Django REST + Celery + PostgreSQL/pgvector backend, React frontend, hosted LLM / VLM / embedding models behind a swappable provider interface. No local GPU required.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t>Input: photographed or scanned handwritten answer sheets. Module-wise status — auth, exam/question/concept management, CSV import, real CV pipeline (L1-L5), real RAG+LLM scoring (L6-L8), teacher review/override/approve, student results: all done.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FDBD6-0110-1520-ABF8-F9C077D79D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3C23F-4D2B-57A9-1A85-3DA16F71FCF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119872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  <p:pic>
        <p:nvPicPr>
          <p:cNvPr id="159" name="Picture 158" descr="06_questions_concep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50000"/>
            <a:ext cx="3911000" cy="2199937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457200" y="5769937"/>
            <a:ext cx="3911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/>
              <a:t>Model answer auto-decomposed into weighted concepts</a:t>
            </a:r>
          </a:p>
        </p:txBody>
      </p:sp>
      <p:pic>
        <p:nvPicPr>
          <p:cNvPr id="161" name="Picture 160" descr="04_review_annot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200" y="3550000"/>
            <a:ext cx="3911000" cy="2199937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4568200" y="5769937"/>
            <a:ext cx="3911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/>
              <a:t>Review screen: annotation overlay + real transcription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64a40ef39_2_37"/>
          <p:cNvSpPr txBox="1">
            <a:spLocks noGrp="1"/>
          </p:cNvSpPr>
          <p:nvPr>
            <p:ph type="title"/>
          </p:nvPr>
        </p:nvSpPr>
        <p:spPr>
          <a:xfrm>
            <a:off x="457200" y="152725"/>
            <a:ext cx="7729200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l"/>
            <a:r>
              <a:rPr lang="en-IN" sz="32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Setup, Results &amp; Analysis</a:t>
            </a:r>
          </a:p>
        </p:txBody>
      </p:sp>
      <p:sp>
        <p:nvSpPr>
          <p:cNvPr id="165" name="Google Shape;165;g3a64a40ef39_2_37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t>Experimental Setup</a:t>
            </a: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vl="1"/>
            <a:r>
              <a:t>Real photographed handwritten answer sheets across multiple Operating Systems / DBMS questions</a:t>
            </a: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vl="1"/>
            <a:r>
              <a:t>Evaluated end-to-end through the live running pipeline</a:t>
            </a: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vl="1"/>
            <a:r>
              <a:t>Evaluation metrics: per-concept status (Covered / Partial / Missing), auto marks vs. maximum marks, composite confidence score, VLM escalation rate</a:t>
            </a: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t>Testing Procedure</a:t>
            </a: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vl="1"/>
            <a:r>
              <a:t>265 automated tests: synthetic golden fixtures for every CV detector, plus regression tests built directly from real photographed answer sheets</a:t>
            </a: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vl="1"/>
            <a:r>
              <a:t>Live end-to-end verification against the running system</a:t>
            </a: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t>Results &amp; Analysis</a:t>
            </a: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vl="1"/>
            <a:r>
              <a:t>Class-analytics dashboard correctly separates strong and weak answers</a:t>
            </a: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vl="1"/>
            <a:r>
              <a:t>Low-confidence sheets are automatically flagged for human review</a:t>
            </a: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vl="1"/>
            <a:r>
              <a:t>~53% VLM escalation rate on real handwriting — ambiguous CV detections correctly get a second, human-quality opinion instead of a guess</a:t>
            </a: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87834-DEF6-FACB-92D2-96A8CFCC7AE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037576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15EE9-9EC8-D6D1-7398-7FB1E6CB3F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7593-4059-4EFD-2BB0-FF813EA89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8486078" cy="1419604"/>
          </a:xfrm>
        </p:spPr>
        <p:txBody>
          <a:bodyPr>
            <a:normAutofit/>
          </a:bodyPr>
          <a:lstStyle/>
          <a:p>
            <a:r>
              <a:rPr lang="en-IN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STATUS, CONCLUSION</a:t>
            </a:r>
            <a:b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3547C-4A7F-1527-C4E9-E426561F0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59366"/>
            <a:ext cx="7620000" cy="5066797"/>
          </a:xfrm>
        </p:spPr>
        <p:txBody>
          <a:bodyPr>
            <a:normAutofit/>
          </a:bodyPr>
          <a:lstStyle/>
          <a:p>
            <a:pPr algn="l"/>
            <a:r>
              <a:t>Completed modules: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vl="1"/>
            <a:r>
              <a:t>Authentication &amp; role management; exam, question and concept CRUD; CSV student import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vl="1"/>
            <a:r>
              <a:t>Real CV pipeline: preprocessing, segmentation, annotation detection &amp; VLM adjudication, adaptive OCR, reconstruction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vl="1"/>
            <a:r>
              <a:t>Real RAG + LLM scoring pipeline: chunking &amp; retrieval, triple-pass coverage voting, scoring, confidence, feedback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vl="1"/>
            <a:r>
              <a:t>Teacher review / override / approve workflow; student results; 265 automated tests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t>Pending work: threshold calibration against a labelled benchmark dataset, broader OCR robustness on cluttered real photographs, a formal correlation (Pearson r) benchmarking report.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t>Challenges faced: hosted-model churn (multiple third-party models were retired or degraded mid-project), handwriting OCR accuracy on cluttered real photographs, telling genuine hand-drawn marks apart from printed page furniture such as ruled lines.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t>Solutions adopted: a provider abstraction so a model swap is a one-line change; a vision-language-model adjudication step with an explicit "not a real mark" option; geometric detectors hardened against real, not just synthetic, photographs.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t>Conclusion: the core pipeline — from a photographed handwritten sheet to a concept-level, confidence-scored, teacher-reviewable mark — is built, tested and working end-to-end on real data. Remaining work is calibration and OCR robustness, not core architecture.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F00D8-5DAB-3041-83E8-E5C536AA4A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AF726E8-5086-0729-9262-62B17A327BB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028432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98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64a40ef39_0_0"/>
          <p:cNvSpPr txBox="1">
            <a:spLocks noGrp="1"/>
          </p:cNvSpPr>
          <p:nvPr>
            <p:ph type="title"/>
          </p:nvPr>
        </p:nvSpPr>
        <p:spPr>
          <a:xfrm>
            <a:off x="457200" y="152725"/>
            <a:ext cx="7620000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PUBLICATIONS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Google Shape;193;g3a64a40ef39_0_0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8257032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None/>
            </a:pPr>
            <a:r>
              <a:rPr lang="en-IN" sz="18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Instructions to the team :</a:t>
            </a:r>
            <a:endParaRPr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334327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90000"/>
              <a:buChar char="•"/>
            </a:pPr>
            <a:r>
              <a:rPr lang="en-IN" sz="18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Each team must publish their work in a reputed conference / journal indexed in Scopus / Web of Science. (exclusive marks are allotted for this parameter) or Patent </a:t>
            </a:r>
            <a:endParaRPr sz="18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None/>
            </a:pPr>
            <a:endParaRPr sz="18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lvl="0" indent="-334327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90000"/>
              <a:buChar char="•"/>
            </a:pPr>
            <a:r>
              <a:rPr lang="en-IN" sz="18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Project report must be prepared using LaTeX software.</a:t>
            </a:r>
            <a:endParaRPr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None/>
            </a:pPr>
            <a:endParaRPr sz="18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lvl="0" indent="-334327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90000"/>
              <a:buChar char="•"/>
            </a:pPr>
            <a:r>
              <a:rPr lang="en-IN" sz="18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The Project reports and research paper should be checked through </a:t>
            </a:r>
            <a:r>
              <a:rPr lang="en-IN" sz="1800" b="0" i="1" dirty="0">
                <a:solidFill>
                  <a:srgbClr val="FF0000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Turnitin</a:t>
            </a:r>
            <a:r>
              <a:rPr lang="en-IN" sz="1800" b="0" dirty="0">
                <a:solidFill>
                  <a:srgbClr val="FF0000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 </a:t>
            </a:r>
            <a:r>
              <a:rPr lang="en-IN" sz="18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Plagiarism tool. (Must be less than 15%)</a:t>
            </a:r>
            <a:endParaRPr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E51F1-3898-D2F1-E130-E335DF49869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7790688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BF170-66C7-99AD-5F18-88CCB6F91C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500"/>
              <a:t>[1] R. Smith, "An Overview of the Tesseract OCR Engine," in Proc. 9th Int. Conf. Document Analysis and Recognition (ICDAR), 2007, pp. 629-633.</a:t>
            </a:r>
          </a:p>
          <a:p>
            <a:pPr/>
            <a:r>
              <a:rPr sz="1500"/>
              <a:t>[2] P. Lewis et al., "Retrieval-Augmented Generation for Knowledge-Intensive NLP Tasks," in Proc. NeurIPS, 2020.</a:t>
            </a:r>
          </a:p>
          <a:p>
            <a:pPr/>
            <a:r>
              <a:rPr sz="1500"/>
              <a:t>[3] R. O. Duda and P. E. Hart, "Use of the Hough Transformation to Detect Lines and Curves in Pictures," Communications of the ACM, vol. 15, no. 1, pp. 11-15, 1972.</a:t>
            </a:r>
          </a:p>
          <a:p>
            <a:pPr/>
            <a:r>
              <a:rPr sz="1500"/>
              <a:t>[4] A. Vaswani et al., "Attention Is All You Need," in Proc. NeurIPS, 2017.</a:t>
            </a:r>
          </a:p>
          <a:p>
            <a:pPr/>
            <a:r>
              <a:rPr sz="1500"/>
              <a:t>[5] OpenAI, "GPT-4 Technical Report," arXiv:2303.08774, 2023.</a:t>
            </a:r>
          </a:p>
          <a:p>
            <a:pPr/>
            <a:r>
              <a:rPr sz="1500"/>
              <a:t>[6] NVIDIA, "NVIDIA NIM: Optimized Inference Microservices," NVIDIA Developer Documentation, 2024. [Online]. Available: https://developer.nvidia.com/nim</a:t>
            </a:r>
          </a:p>
          <a:p>
            <a:pPr/>
            <a:r>
              <a:rPr sz="1500"/>
              <a:t>[7] pgvector, "Open-source vector similarity search for Postgres," GitHub repository, 2024. [Online]. Available: https://github.com/pgvector/pgvector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701</Words>
  <Application>Microsoft Office PowerPoint</Application>
  <PresentationFormat>On-screen Show (4:3)</PresentationFormat>
  <Paragraphs>128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Century Schoolbook</vt:lpstr>
      <vt:lpstr>Roboto</vt:lpstr>
      <vt:lpstr>Calibri</vt:lpstr>
      <vt:lpstr>Bookman Old Style</vt:lpstr>
      <vt:lpstr>Cambria Math</vt:lpstr>
      <vt:lpstr>Arial Black</vt:lpstr>
      <vt:lpstr>Times New Roman</vt:lpstr>
      <vt:lpstr>Arial</vt:lpstr>
      <vt:lpstr>Essential</vt:lpstr>
      <vt:lpstr>PowerPoint Presentation</vt:lpstr>
      <vt:lpstr>CONTENT </vt:lpstr>
      <vt:lpstr>ABSTRACT</vt:lpstr>
      <vt:lpstr>INTRODUCTION</vt:lpstr>
      <vt:lpstr>PROBLEM STATEMENT</vt:lpstr>
      <vt:lpstr>OBJECTIVES OF THE WORK</vt:lpstr>
      <vt:lpstr>METHODOLOGY </vt:lpstr>
      <vt:lpstr>DEMONSTRATION OF PROJECT EXECUTION</vt:lpstr>
      <vt:lpstr>Experimental Setup, Results &amp; Analysis</vt:lpstr>
      <vt:lpstr>PROJECT STATUS, CONCLUSION </vt:lpstr>
      <vt:lpstr>PUBLICATIONS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BMSIT</cp:lastModifiedBy>
  <cp:revision>13</cp:revision>
  <dcterms:modified xsi:type="dcterms:W3CDTF">2026-08-27T04:08:44Z</dcterms:modified>
</cp:coreProperties>
</file>